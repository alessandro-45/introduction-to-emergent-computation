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Presentar el articulo: Ramsauer y colaboradores, Universidad Johannes Kepler de Linz (grupo de Sepp Hochreiter, autor de las LSTM), publicado en ICLR 2021. La idea en una frase: una red de Hopfield con una nueva energia guarda muchisimos mas patrones, recupera en un paso, y su regla de actualizacion es la atencion de los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Recordar la Actividad 5. La red clasica guarda las letras en una matriz de pesos con la regla de Hebb y, a partir de una letra ruidosa, baja por la energia hasta un minimo. En la figura, cada fila es una letra: original, con 8 de 42 pixeles invertidos, lo que devuelve la red clasica y lo que devuelve la red moderna tras una sola actualizacion. La clasica falla en A y 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Tres limitaciones. Capacidad: con Hebb la diafonia crece con el numero de patrones; el limite teorico de Amit, Gutfreund y Sompolinsky es 0.138 por neurona. Binarios: no se puede derivar, asi que no se puede meter como capa en una red profunda. Y la atencion de los Transformers funciona muy bien pero sin una interpretacion clara.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La energia clasica se puede escribir como menos la suma de los cuadrados de los solapamientos. Krotov y Hopfield usaron potencias mayores y Demircigil la exponencial: cuanto mas empinada es la funcion, mas pesa el patron mas parecido frente a la diafonia. Ramsauer lo lleva a estados continuos con el log-sum-exp, que es un maximo suave. Los terminos constantes del paper (log P / beta y M^2/2) solo acotan la energia entre 0 y 2M^2.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Se obtiene minimizando la energia con el procedimiento concavo-convexo. Tres pasos: similitudes, softmax y promedio ponderado. No hay matriz de pesos ni entrenamiento: anadir un patron no deforma a los demas. El paper demuestra convergencia global y que, si el patron esta separado de los demas, una sola actualizacion lo recupera con error exponencialmente pequeno en beta por la separacion.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La diapositiva clave. Si las consultas y los patrones pasan por proyecciones lineales aprendidas y beta vale uno sobre raiz de d_k, aplicar la regla de actualizacion a todas las consultas a la vez es exactamente la atencion de Vaswani 2017. Lo comprobamos con numpy con proyecciones aleatorias: la diferencia es redondeo de punto flotante. A la derecha, una capa de atencion cuyas claves y valores son las cuatro letras: cada consulta con 8 pixeles invertidos pone casi todo su peso en su letra. Una capa de atencion es un paso de recuperacion de memoria.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Mismo protocolo que el experimento 11: 200 consultas por letra y nivel de ruido, las mismas para todos los modelos. La moderna con beta 0.5 recupera en una actualizacion y su curva coincide con la del vecino mas cercano, que es el optimo para una memoria que solo ve la consulta. La clasica con Hebb cae mucho antes y la pseudoinversa queda en medio.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Las 26 mayusculas en 7x6 son casi cinco veces la capacidad teorica: con Hebb ni siquiera las letras limpias son puntos fijos; la moderna las recupera todas. Con patrones aleatorios la clasica cae alrededor de 6 patrones y la moderna llega a miles en las mismas 42 dimensiones. El limite aparece cuando beta es pequeno frente al logaritmo del numero de patrones: la suma de miles de patrones parecidos supera al correcto. El paper demuestra capacidad exponencial en la dimension.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Las 26 letras guardadas y una B con 4 pixeles invertidos. Con beta 0.01 el punto fijo es la media de todo el alfabeto, el mismo para cualquier consulta. Con beta 0.2 la red se queda en un estado que mezcla B y R: recuerda lo que tienen en comun. Con beta 1 recupera la B. La energia baja en los tres casos. El paper usa esta clasificacion para analizar las cabezas de atencion de BERT.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Con la equivalencia, los autores proponen tres capas. Hopfield es una atencion general entre dos conjuntos; HopfieldPooling aprende una consulta que resume un conjunto, util cuando cada ejemplo es una bolsa de instancias; HopfieldLayer aprende los propios patrones guardados. Resultados segun el resumen del paper. (Verificar en las tablas del PDF las cifras concretas antes de citarlas.)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Ventajas: capacidad, un paso, derivable, interpretable. Limitaciones: la red clasica comprime todo en una matriz d por d de tamano fijo; la moderna guarda cada patron, asi que el coste crece con P. Beta hay que ajustarlo. Y la similitud por producto escalar solo tiene sentido si se aprenden buenas proyecciones.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Tres frases de cierre y abrir preguntas. Preguntas probables: por que softmax y no argmax (es derivable y permite estados metaestables); que pasa con muchos patrones (beta debe crecer con log P); diferencia con un vecino mas cercano (con beta grande lo es; con proyecciones aprendidas y beta finito es mas general).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777240"/>
            <a:ext cx="5394960" cy="365760"/>
          </a:xfrm>
          <a:prstGeom prst="rect">
            <a:avLst/>
          </a:prstGeom>
          <a:noFill/>
        </p:spPr>
        <p:txBody>
          <a:bodyPr wrap="square" anchor="t" lIns="36576" rIns="36576" tIns="18288" bIns="18288">
            <a:spAutoFit/>
          </a:bodyPr>
          <a:lstStyle/>
          <a:p>
            <a:pPr algn="l">
              <a:lnSpc>
                <a:spcPct val="110000"/>
              </a:lnSpc>
            </a:pPr>
            <a:r>
              <a:rPr sz="1300" b="0" i="0">
                <a:solidFill>
                  <a:srgbClr val="C9D6F2"/>
                </a:solidFill>
                <a:latin typeface="Arial"/>
              </a:rPr>
              <a:t>Seminario de investigación · Actividad 6</a:t>
            </a:r>
          </a:p>
        </p:txBody>
      </p:sp>
      <p:sp>
        <p:nvSpPr>
          <p:cNvPr id="3" name="TextBox 2"/>
          <p:cNvSpPr txBox="1"/>
          <p:nvPr/>
        </p:nvSpPr>
        <p:spPr>
          <a:xfrm>
            <a:off x="548640" y="1234440"/>
            <a:ext cx="5394960" cy="1554480"/>
          </a:xfrm>
          <a:prstGeom prst="rect">
            <a:avLst/>
          </a:prstGeom>
          <a:noFill/>
        </p:spPr>
        <p:txBody>
          <a:bodyPr wrap="square" anchor="t" lIns="36576" rIns="36576" tIns="18288" bIns="18288">
            <a:spAutoFit/>
          </a:bodyPr>
          <a:lstStyle/>
          <a:p>
            <a:pPr algn="l">
              <a:lnSpc>
                <a:spcPct val="100000"/>
              </a:lnSpc>
            </a:pPr>
            <a:r>
              <a:rPr sz="3400" b="1" i="0">
                <a:solidFill>
                  <a:srgbClr val="FFFFFF"/>
                </a:solidFill>
                <a:latin typeface="Arial"/>
              </a:rPr>
              <a:t>Hopfield Networks is All You Need</a:t>
            </a:r>
          </a:p>
        </p:txBody>
      </p:sp>
      <p:sp>
        <p:nvSpPr>
          <p:cNvPr id="4" name="TextBox 3"/>
          <p:cNvSpPr txBox="1"/>
          <p:nvPr/>
        </p:nvSpPr>
        <p:spPr>
          <a:xfrm>
            <a:off x="548640" y="2926080"/>
            <a:ext cx="5212080" cy="1188720"/>
          </a:xfrm>
          <a:prstGeom prst="rect">
            <a:avLst/>
          </a:prstGeom>
          <a:noFill/>
        </p:spPr>
        <p:txBody>
          <a:bodyPr wrap="square" anchor="t" lIns="36576" rIns="36576" tIns="18288" bIns="18288">
            <a:spAutoFit/>
          </a:bodyPr>
          <a:lstStyle/>
          <a:p>
            <a:pPr algn="l">
              <a:lnSpc>
                <a:spcPct val="125000"/>
              </a:lnSpc>
            </a:pPr>
            <a:r>
              <a:rPr sz="1200" b="0" i="0">
                <a:solidFill>
                  <a:srgbClr val="C9D6F2"/>
                </a:solidFill>
                <a:latin typeface="Arial"/>
              </a:rPr>
              <a:t>Ramsauer, H., Schäfl, B., Lehner, J., … Klambauer, G., Brandstetter, J. y Hochreiter, S.</a:t>
            </a:r>
          </a:p>
          <a:p>
            <a:pPr algn="l">
              <a:lnSpc>
                <a:spcPct val="125000"/>
              </a:lnSpc>
            </a:pPr>
            <a:r>
              <a:rPr sz="1200" b="1" i="0">
                <a:solidFill>
                  <a:srgbClr val="FFFFFF"/>
                </a:solidFill>
                <a:latin typeface="Arial"/>
              </a:rPr>
              <a:t>ICLR 2021 · arXiv:2008.02217</a:t>
            </a:r>
          </a:p>
          <a:p>
            <a:pPr algn="l">
              <a:lnSpc>
                <a:spcPct val="125000"/>
              </a:lnSpc>
            </a:pPr>
            <a:r>
              <a:rPr sz="1200" b="0" i="0">
                <a:solidFill>
                  <a:srgbClr val="C9D6F2"/>
                </a:solidFill>
                <a:latin typeface="Arial"/>
              </a:rPr>
              <a:t>Introducción a la Computación Emergente · Prof. Esteban Álvarez</a:t>
            </a:r>
          </a:p>
        </p:txBody>
      </p:sp>
      <p:sp>
        <p:nvSpPr>
          <p:cNvPr id="5" name="Rectangle 4"/>
          <p:cNvSpPr/>
          <p:nvPr/>
        </p:nvSpPr>
        <p:spPr>
          <a:xfrm>
            <a:off x="6263640" y="114300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56248" y="114300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48855" y="114300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41464" y="114300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34071" y="114300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79" y="1143000"/>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3560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56248" y="143560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48855" y="1435608"/>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41464" y="1435608"/>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34071" y="143560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26679" y="143560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728216"/>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56248" y="1728216"/>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48855" y="1728216"/>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41464" y="1728216"/>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34071" y="1728216"/>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26679" y="1728216"/>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2020824"/>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56248" y="2020824"/>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48855" y="2020824"/>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41464" y="2020824"/>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34071" y="2020824"/>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26679" y="2020824"/>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2313432"/>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56248" y="2313432"/>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48855" y="2313432"/>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41464" y="2313432"/>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34071" y="2313432"/>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26679" y="2313432"/>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260604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56248" y="260604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48855" y="2606040"/>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141464" y="2606040"/>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34071" y="260604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26679" y="2606040"/>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63640" y="289864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56248" y="289864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48855" y="289864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41464" y="289864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34071" y="2898648"/>
            <a:ext cx="274320"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26679" y="2898648"/>
            <a:ext cx="274320" cy="274320"/>
          </a:xfrm>
          <a:prstGeom prst="rect">
            <a:avLst/>
          </a:prstGeom>
          <a:solidFill>
            <a:srgbClr val="25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Punto de partida: la red de Hopfield de 1982</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3_recuperacion_letras.png"/>
          <p:cNvPicPr>
            <a:picLocks noChangeAspect="1"/>
          </p:cNvPicPr>
          <p:nvPr/>
        </p:nvPicPr>
        <p:blipFill>
          <a:blip r:embed="rId2"/>
          <a:stretch>
            <a:fillRect/>
          </a:stretch>
        </p:blipFill>
        <p:spPr>
          <a:xfrm>
            <a:off x="411480" y="1097280"/>
            <a:ext cx="2965549" cy="3429000"/>
          </a:xfrm>
          <a:prstGeom prst="rect">
            <a:avLst/>
          </a:prstGeom>
        </p:spPr>
      </p:pic>
      <p:sp>
        <p:nvSpPr>
          <p:cNvPr id="5" name="TextBox 4"/>
          <p:cNvSpPr txBox="1"/>
          <p:nvPr/>
        </p:nvSpPr>
        <p:spPr>
          <a:xfrm>
            <a:off x="4572000" y="1143000"/>
            <a:ext cx="4206240" cy="3291840"/>
          </a:xfrm>
          <a:prstGeom prst="rect">
            <a:avLst/>
          </a:prstGeom>
          <a:noFill/>
        </p:spPr>
        <p:txBody>
          <a:bodyPr wrap="square" anchor="t" lIns="36576" rIns="36576" tIns="18288" bIns="18288">
            <a:spAutoFit/>
          </a:bodyPr>
          <a:lstStyle/>
          <a:p>
            <a:pPr algn="l">
              <a:lnSpc>
                <a:spcPct val="110000"/>
              </a:lnSpc>
            </a:pPr>
            <a:r>
              <a:rPr sz="900" b="0" i="0">
                <a:solidFill>
                  <a:srgbClr val="2A78D6"/>
                </a:solidFill>
                <a:latin typeface="Arial"/>
              </a:rPr>
              <a:t>■  </a:t>
            </a:r>
            <a:r>
              <a:rPr sz="1300" b="1" i="0">
                <a:solidFill>
                  <a:srgbClr val="14213D"/>
                </a:solidFill>
                <a:latin typeface="Arial"/>
              </a:rPr>
              <a:t>Memoria asociativa: </a:t>
            </a:r>
            <a:r>
              <a:rPr sz="1300" b="0" i="0">
                <a:solidFill>
                  <a:srgbClr val="14213D"/>
                </a:solidFill>
                <a:latin typeface="Arial"/>
              </a:rPr>
              <a:t>guarda patrones y los recupera desde versiones ruidosas.</a:t>
            </a:r>
          </a:p>
          <a:p>
            <a:pPr algn="l">
              <a:lnSpc>
                <a:spcPct val="110000"/>
              </a:lnSpc>
              <a:spcBef>
                <a:spcPts val="700"/>
              </a:spcBef>
            </a:pPr>
            <a:r>
              <a:rPr sz="900" b="0" i="0">
                <a:solidFill>
                  <a:srgbClr val="2A78D6"/>
                </a:solidFill>
                <a:latin typeface="Arial"/>
              </a:rPr>
              <a:t>■  </a:t>
            </a:r>
            <a:r>
              <a:rPr sz="1300" b="1" i="0">
                <a:solidFill>
                  <a:srgbClr val="14213D"/>
                </a:solidFill>
                <a:latin typeface="Arial"/>
              </a:rPr>
              <a:t>Pesos de Hebb: </a:t>
            </a:r>
            <a:r>
              <a:rPr sz="1300" b="0" i="0">
                <a:solidFill>
                  <a:srgbClr val="14213D"/>
                </a:solidFill>
                <a:latin typeface="Arial"/>
              </a:rPr>
              <a:t>W = (1/N) Σ ξ ξᵀ, en una sola pasada.</a:t>
            </a:r>
          </a:p>
          <a:p>
            <a:pPr algn="l">
              <a:lnSpc>
                <a:spcPct val="110000"/>
              </a:lnSpc>
              <a:spcBef>
                <a:spcPts val="700"/>
              </a:spcBef>
            </a:pPr>
            <a:r>
              <a:rPr sz="900" b="0" i="0">
                <a:solidFill>
                  <a:srgbClr val="2A78D6"/>
                </a:solidFill>
                <a:latin typeface="Arial"/>
              </a:rPr>
              <a:t>■  </a:t>
            </a:r>
            <a:r>
              <a:rPr sz="1300" b="1" i="0">
                <a:solidFill>
                  <a:srgbClr val="14213D"/>
                </a:solidFill>
                <a:latin typeface="Arial"/>
              </a:rPr>
              <a:t>Energía </a:t>
            </a:r>
            <a:r>
              <a:rPr sz="1300" b="0" i="0">
                <a:solidFill>
                  <a:srgbClr val="14213D"/>
                </a:solidFill>
                <a:latin typeface="Arial"/>
              </a:rPr>
              <a:t>E = −½ sᵀWs: nunca sube; los patrones son sus mínimos.</a:t>
            </a:r>
          </a:p>
          <a:p>
            <a:pPr algn="l">
              <a:lnSpc>
                <a:spcPct val="110000"/>
              </a:lnSpc>
              <a:spcBef>
                <a:spcPts val="700"/>
              </a:spcBef>
            </a:pPr>
            <a:r>
              <a:rPr sz="900" b="0" i="0">
                <a:solidFill>
                  <a:srgbClr val="2A78D6"/>
                </a:solidFill>
                <a:latin typeface="Arial"/>
              </a:rPr>
              <a:t>■  </a:t>
            </a:r>
            <a:r>
              <a:rPr sz="1300" b="1" i="0">
                <a:solidFill>
                  <a:srgbClr val="14213D"/>
                </a:solidFill>
                <a:latin typeface="Arial"/>
              </a:rPr>
              <a:t>Actividad 5: </a:t>
            </a:r>
            <a:r>
              <a:rPr sz="1300" b="0" i="0">
                <a:solidFill>
                  <a:srgbClr val="14213D"/>
                </a:solidFill>
                <a:latin typeface="Arial"/>
              </a:rPr>
              <a:t>letras A, B, C, D de 7×6 = 42 neuronas.</a:t>
            </a:r>
          </a:p>
          <a:p>
            <a:pPr algn="l">
              <a:lnSpc>
                <a:spcPct val="110000"/>
              </a:lnSpc>
              <a:spcBef>
                <a:spcPts val="700"/>
              </a:spcBef>
            </a:pPr>
            <a:r>
              <a:rPr sz="900" b="0" i="0">
                <a:solidFill>
                  <a:srgbClr val="2A78D6"/>
                </a:solidFill>
                <a:latin typeface="Arial"/>
              </a:rPr>
              <a:t>■  </a:t>
            </a:r>
            <a:r>
              <a:rPr sz="1300" b="1" i="0">
                <a:solidFill>
                  <a:srgbClr val="14213D"/>
                </a:solidFill>
                <a:latin typeface="Arial"/>
              </a:rPr>
              <a:t>Columna 3: </a:t>
            </a:r>
            <a:r>
              <a:rPr sz="1300" b="0" i="0">
                <a:solidFill>
                  <a:srgbClr val="EB6834"/>
                </a:solidFill>
                <a:latin typeface="Arial"/>
              </a:rPr>
              <a:t>la red clásica ya se equivoca con 8 píxeles invertidos.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Tres problemas que el artículo ataca</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34440"/>
            <a:ext cx="2606040" cy="4572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2423160" cy="457200"/>
          </a:xfrm>
          <a:prstGeom prst="rect">
            <a:avLst/>
          </a:prstGeom>
          <a:noFill/>
        </p:spPr>
        <p:txBody>
          <a:bodyPr wrap="square" anchor="ctr" lIns="36576" rIns="36576" tIns="18288" bIns="18288">
            <a:spAutoFit/>
          </a:bodyPr>
          <a:lstStyle/>
          <a:p>
            <a:pPr algn="l">
              <a:lnSpc>
                <a:spcPct val="110000"/>
              </a:lnSpc>
            </a:pPr>
            <a:r>
              <a:rPr sz="1600" b="1" i="0">
                <a:solidFill>
                  <a:srgbClr val="FFFFFF"/>
                </a:solidFill>
                <a:latin typeface="Arial"/>
              </a:rPr>
              <a:t>Capacidad</a:t>
            </a:r>
          </a:p>
        </p:txBody>
      </p:sp>
      <p:sp>
        <p:nvSpPr>
          <p:cNvPr id="6" name="Rectangle 5"/>
          <p:cNvSpPr/>
          <p:nvPr/>
        </p:nvSpPr>
        <p:spPr>
          <a:xfrm>
            <a:off x="457200" y="1691640"/>
            <a:ext cx="2606040" cy="2011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01368"/>
            <a:ext cx="2331720" cy="1828800"/>
          </a:xfrm>
          <a:prstGeom prst="rect">
            <a:avLst/>
          </a:prstGeom>
          <a:noFill/>
        </p:spPr>
        <p:txBody>
          <a:bodyPr wrap="square" anchor="t" lIns="36576" rIns="36576" tIns="18288" bIns="18288">
            <a:spAutoFit/>
          </a:bodyPr>
          <a:lstStyle/>
          <a:p>
            <a:pPr algn="l">
              <a:lnSpc>
                <a:spcPct val="120000"/>
              </a:lnSpc>
            </a:pPr>
            <a:r>
              <a:rPr sz="1300" b="0" i="0">
                <a:solidFill>
                  <a:srgbClr val="14213D"/>
                </a:solidFill>
                <a:latin typeface="Arial"/>
              </a:rPr>
              <a:t>Con Hebb, solo ≈ 0.138·d patrones aleatorios. Con 42 neuronas: unos 6. Más memorias → diafonía → estados espurios.</a:t>
            </a:r>
          </a:p>
        </p:txBody>
      </p:sp>
      <p:sp>
        <p:nvSpPr>
          <p:cNvPr id="8" name="Rectangle 7"/>
          <p:cNvSpPr/>
          <p:nvPr/>
        </p:nvSpPr>
        <p:spPr>
          <a:xfrm>
            <a:off x="3246120" y="1234440"/>
            <a:ext cx="2606040"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234440"/>
            <a:ext cx="2423160" cy="457200"/>
          </a:xfrm>
          <a:prstGeom prst="rect">
            <a:avLst/>
          </a:prstGeom>
          <a:noFill/>
        </p:spPr>
        <p:txBody>
          <a:bodyPr wrap="square" anchor="ctr" lIns="36576" rIns="36576" tIns="18288" bIns="18288">
            <a:spAutoFit/>
          </a:bodyPr>
          <a:lstStyle/>
          <a:p>
            <a:pPr algn="l">
              <a:lnSpc>
                <a:spcPct val="110000"/>
              </a:lnSpc>
            </a:pPr>
            <a:r>
              <a:rPr sz="1600" b="1" i="0">
                <a:solidFill>
                  <a:srgbClr val="FFFFFF"/>
                </a:solidFill>
                <a:latin typeface="Arial"/>
              </a:rPr>
              <a:t>Estados binarios</a:t>
            </a:r>
          </a:p>
        </p:txBody>
      </p:sp>
      <p:sp>
        <p:nvSpPr>
          <p:cNvPr id="10" name="Rectangle 9"/>
          <p:cNvSpPr/>
          <p:nvPr/>
        </p:nvSpPr>
        <p:spPr>
          <a:xfrm>
            <a:off x="3246120" y="1691640"/>
            <a:ext cx="2606040" cy="2011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1801368"/>
            <a:ext cx="2331720" cy="1828800"/>
          </a:xfrm>
          <a:prstGeom prst="rect">
            <a:avLst/>
          </a:prstGeom>
          <a:noFill/>
        </p:spPr>
        <p:txBody>
          <a:bodyPr wrap="square" anchor="t" lIns="36576" rIns="36576" tIns="18288" bIns="18288">
            <a:spAutoFit/>
          </a:bodyPr>
          <a:lstStyle/>
          <a:p>
            <a:pPr algn="l">
              <a:lnSpc>
                <a:spcPct val="120000"/>
              </a:lnSpc>
            </a:pPr>
            <a:r>
              <a:rPr sz="1300" b="0" i="0">
                <a:solidFill>
                  <a:srgbClr val="14213D"/>
                </a:solidFill>
                <a:latin typeface="Arial"/>
              </a:rPr>
              <a:t>Neuronas ±1 actualizadas una a una: no encaja con redes profundas que se entrenan con retropropagación.</a:t>
            </a:r>
          </a:p>
        </p:txBody>
      </p:sp>
      <p:sp>
        <p:nvSpPr>
          <p:cNvPr id="12" name="Rectangle 11"/>
          <p:cNvSpPr/>
          <p:nvPr/>
        </p:nvSpPr>
        <p:spPr>
          <a:xfrm>
            <a:off x="6035040" y="1234440"/>
            <a:ext cx="2606040" cy="4572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79" y="1234440"/>
            <a:ext cx="2423160" cy="457200"/>
          </a:xfrm>
          <a:prstGeom prst="rect">
            <a:avLst/>
          </a:prstGeom>
          <a:noFill/>
        </p:spPr>
        <p:txBody>
          <a:bodyPr wrap="square" anchor="ctr" lIns="36576" rIns="36576" tIns="18288" bIns="18288">
            <a:spAutoFit/>
          </a:bodyPr>
          <a:lstStyle/>
          <a:p>
            <a:pPr algn="l">
              <a:lnSpc>
                <a:spcPct val="110000"/>
              </a:lnSpc>
            </a:pPr>
            <a:r>
              <a:rPr sz="1600" b="1" i="0">
                <a:solidFill>
                  <a:srgbClr val="FFFFFF"/>
                </a:solidFill>
                <a:latin typeface="Arial"/>
              </a:rPr>
              <a:t>Atención sin teoría</a:t>
            </a:r>
          </a:p>
        </p:txBody>
      </p:sp>
      <p:sp>
        <p:nvSpPr>
          <p:cNvPr id="14" name="Rectangle 13"/>
          <p:cNvSpPr/>
          <p:nvPr/>
        </p:nvSpPr>
        <p:spPr>
          <a:xfrm>
            <a:off x="6035040" y="1691640"/>
            <a:ext cx="2606040" cy="2011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801368"/>
            <a:ext cx="2331720" cy="1828800"/>
          </a:xfrm>
          <a:prstGeom prst="rect">
            <a:avLst/>
          </a:prstGeom>
          <a:noFill/>
        </p:spPr>
        <p:txBody>
          <a:bodyPr wrap="square" anchor="t" lIns="36576" rIns="36576" tIns="18288" bIns="18288">
            <a:spAutoFit/>
          </a:bodyPr>
          <a:lstStyle/>
          <a:p>
            <a:pPr algn="l">
              <a:lnSpc>
                <a:spcPct val="120000"/>
              </a:lnSpc>
            </a:pPr>
            <a:r>
              <a:rPr sz="1300" b="0" i="0">
                <a:solidFill>
                  <a:srgbClr val="14213D"/>
                </a:solidFill>
                <a:latin typeface="Arial"/>
              </a:rPr>
              <a:t>Los Transformers usan softmax(QKᵀ/√dₖ)V en cada capa. ¿Qué operación es, en realidad?</a:t>
            </a:r>
          </a:p>
        </p:txBody>
      </p:sp>
      <p:sp>
        <p:nvSpPr>
          <p:cNvPr id="16" name="TextBox 15"/>
          <p:cNvSpPr txBox="1"/>
          <p:nvPr/>
        </p:nvSpPr>
        <p:spPr>
          <a:xfrm>
            <a:off x="457200" y="3931920"/>
            <a:ext cx="8229600" cy="457200"/>
          </a:xfrm>
          <a:prstGeom prst="rect">
            <a:avLst/>
          </a:prstGeom>
          <a:noFill/>
        </p:spPr>
        <p:txBody>
          <a:bodyPr wrap="square" anchor="t" lIns="36576" rIns="36576" tIns="18288" bIns="18288">
            <a:spAutoFit/>
          </a:bodyPr>
          <a:lstStyle/>
          <a:p>
            <a:pPr algn="l">
              <a:lnSpc>
                <a:spcPct val="110000"/>
              </a:lnSpc>
            </a:pPr>
            <a:r>
              <a:rPr sz="1400" b="1" i="0">
                <a:solidFill>
                  <a:srgbClr val="5B6472"/>
                </a:solidFill>
                <a:latin typeface="Arial"/>
              </a:rPr>
              <a:t>Idea: cambiar la energía para que el patrón más parecido domine de forma exponencial.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La nueva energía: de z² a exp(z)</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43000"/>
            <a:ext cx="868680" cy="54864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868680" cy="54864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1982</a:t>
            </a:r>
          </a:p>
        </p:txBody>
      </p:sp>
      <p:sp>
        <p:nvSpPr>
          <p:cNvPr id="6" name="TextBox 5"/>
          <p:cNvSpPr txBox="1"/>
          <p:nvPr/>
        </p:nvSpPr>
        <p:spPr>
          <a:xfrm>
            <a:off x="1463040" y="1143000"/>
            <a:ext cx="2103120" cy="548640"/>
          </a:xfrm>
          <a:prstGeom prst="rect">
            <a:avLst/>
          </a:prstGeom>
          <a:noFill/>
        </p:spPr>
        <p:txBody>
          <a:bodyPr wrap="square" anchor="ctr" lIns="36576" rIns="36576" tIns="18288" bIns="18288">
            <a:spAutoFit/>
          </a:bodyPr>
          <a:lstStyle/>
          <a:p>
            <a:pPr algn="l">
              <a:lnSpc>
                <a:spcPct val="100000"/>
              </a:lnSpc>
            </a:pPr>
            <a:r>
              <a:rPr sz="1300" b="1" i="0">
                <a:solidFill>
                  <a:srgbClr val="14213D"/>
                </a:solidFill>
                <a:latin typeface="Arial"/>
              </a:rPr>
              <a:t>Hopfield</a:t>
            </a:r>
          </a:p>
          <a:p>
            <a:pPr algn="l">
              <a:lnSpc>
                <a:spcPct val="100000"/>
              </a:lnSpc>
            </a:pPr>
            <a:r>
              <a:rPr sz="1100" b="0" i="0">
                <a:solidFill>
                  <a:srgbClr val="5B6472"/>
                </a:solidFill>
                <a:latin typeface="Arial"/>
              </a:rPr>
              <a:t>cuadrática</a:t>
            </a:r>
          </a:p>
        </p:txBody>
      </p:sp>
      <p:sp>
        <p:nvSpPr>
          <p:cNvPr id="7" name="TextBox 6"/>
          <p:cNvSpPr txBox="1"/>
          <p:nvPr/>
        </p:nvSpPr>
        <p:spPr>
          <a:xfrm>
            <a:off x="3611880" y="1143000"/>
            <a:ext cx="2834640" cy="548640"/>
          </a:xfrm>
          <a:prstGeom prst="rect">
            <a:avLst/>
          </a:prstGeom>
          <a:noFill/>
        </p:spPr>
        <p:txBody>
          <a:bodyPr wrap="square" anchor="ctr" lIns="36576" rIns="36576" tIns="18288" bIns="18288">
            <a:spAutoFit/>
          </a:bodyPr>
          <a:lstStyle/>
          <a:p>
            <a:pPr algn="l">
              <a:lnSpc>
                <a:spcPct val="110000"/>
              </a:lnSpc>
            </a:pPr>
            <a:r>
              <a:rPr sz="1400" b="0" i="0">
                <a:solidFill>
                  <a:srgbClr val="14213D"/>
                </a:solidFill>
                <a:latin typeface="Cambria Math"/>
              </a:rPr>
              <a:t>E = −Σ (xᵀs)²</a:t>
            </a:r>
          </a:p>
        </p:txBody>
      </p:sp>
      <p:sp>
        <p:nvSpPr>
          <p:cNvPr id="8" name="Rectangle 7"/>
          <p:cNvSpPr/>
          <p:nvPr/>
        </p:nvSpPr>
        <p:spPr>
          <a:xfrm>
            <a:off x="457200" y="1856232"/>
            <a:ext cx="868680" cy="54864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56232"/>
            <a:ext cx="868680" cy="54864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2016</a:t>
            </a:r>
          </a:p>
        </p:txBody>
      </p:sp>
      <p:sp>
        <p:nvSpPr>
          <p:cNvPr id="10" name="TextBox 9"/>
          <p:cNvSpPr txBox="1"/>
          <p:nvPr/>
        </p:nvSpPr>
        <p:spPr>
          <a:xfrm>
            <a:off x="1463040" y="1856232"/>
            <a:ext cx="2103120" cy="548640"/>
          </a:xfrm>
          <a:prstGeom prst="rect">
            <a:avLst/>
          </a:prstGeom>
          <a:noFill/>
        </p:spPr>
        <p:txBody>
          <a:bodyPr wrap="square" anchor="ctr" lIns="36576" rIns="36576" tIns="18288" bIns="18288">
            <a:spAutoFit/>
          </a:bodyPr>
          <a:lstStyle/>
          <a:p>
            <a:pPr algn="l">
              <a:lnSpc>
                <a:spcPct val="100000"/>
              </a:lnSpc>
            </a:pPr>
            <a:r>
              <a:rPr sz="1300" b="1" i="0">
                <a:solidFill>
                  <a:srgbClr val="14213D"/>
                </a:solidFill>
                <a:latin typeface="Arial"/>
              </a:rPr>
              <a:t>Krotov y Hopfield</a:t>
            </a:r>
          </a:p>
          <a:p>
            <a:pPr algn="l">
              <a:lnSpc>
                <a:spcPct val="100000"/>
              </a:lnSpc>
            </a:pPr>
            <a:r>
              <a:rPr sz="1100" b="0" i="0">
                <a:solidFill>
                  <a:srgbClr val="5B6472"/>
                </a:solidFill>
                <a:latin typeface="Arial"/>
              </a:rPr>
              <a:t>polinómica</a:t>
            </a:r>
          </a:p>
        </p:txBody>
      </p:sp>
      <p:sp>
        <p:nvSpPr>
          <p:cNvPr id="11" name="TextBox 10"/>
          <p:cNvSpPr txBox="1"/>
          <p:nvPr/>
        </p:nvSpPr>
        <p:spPr>
          <a:xfrm>
            <a:off x="3611880" y="1856232"/>
            <a:ext cx="2834640" cy="548640"/>
          </a:xfrm>
          <a:prstGeom prst="rect">
            <a:avLst/>
          </a:prstGeom>
          <a:noFill/>
        </p:spPr>
        <p:txBody>
          <a:bodyPr wrap="square" anchor="ctr" lIns="36576" rIns="36576" tIns="18288" bIns="18288">
            <a:spAutoFit/>
          </a:bodyPr>
          <a:lstStyle/>
          <a:p>
            <a:pPr algn="l">
              <a:lnSpc>
                <a:spcPct val="110000"/>
              </a:lnSpc>
            </a:pPr>
            <a:r>
              <a:rPr sz="1400" b="0" i="0">
                <a:solidFill>
                  <a:srgbClr val="14213D"/>
                </a:solidFill>
                <a:latin typeface="Cambria Math"/>
              </a:rPr>
              <a:t>E = −Σ F(xᵀs),  F = zⁿ</a:t>
            </a:r>
          </a:p>
        </p:txBody>
      </p:sp>
      <p:sp>
        <p:nvSpPr>
          <p:cNvPr id="12" name="Rectangle 11"/>
          <p:cNvSpPr/>
          <p:nvPr/>
        </p:nvSpPr>
        <p:spPr>
          <a:xfrm>
            <a:off x="457200" y="2569464"/>
            <a:ext cx="868680" cy="54864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69464"/>
            <a:ext cx="868680" cy="54864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2017</a:t>
            </a:r>
          </a:p>
        </p:txBody>
      </p:sp>
      <p:sp>
        <p:nvSpPr>
          <p:cNvPr id="14" name="TextBox 13"/>
          <p:cNvSpPr txBox="1"/>
          <p:nvPr/>
        </p:nvSpPr>
        <p:spPr>
          <a:xfrm>
            <a:off x="1463040" y="2569464"/>
            <a:ext cx="2103120" cy="548640"/>
          </a:xfrm>
          <a:prstGeom prst="rect">
            <a:avLst/>
          </a:prstGeom>
          <a:noFill/>
        </p:spPr>
        <p:txBody>
          <a:bodyPr wrap="square" anchor="ctr" lIns="36576" rIns="36576" tIns="18288" bIns="18288">
            <a:spAutoFit/>
          </a:bodyPr>
          <a:lstStyle/>
          <a:p>
            <a:pPr algn="l">
              <a:lnSpc>
                <a:spcPct val="100000"/>
              </a:lnSpc>
            </a:pPr>
            <a:r>
              <a:rPr sz="1300" b="1" i="0">
                <a:solidFill>
                  <a:srgbClr val="14213D"/>
                </a:solidFill>
                <a:latin typeface="Arial"/>
              </a:rPr>
              <a:t>Demircigil et al.</a:t>
            </a:r>
          </a:p>
          <a:p>
            <a:pPr algn="l">
              <a:lnSpc>
                <a:spcPct val="100000"/>
              </a:lnSpc>
            </a:pPr>
            <a:r>
              <a:rPr sz="1100" b="0" i="0">
                <a:solidFill>
                  <a:srgbClr val="5B6472"/>
                </a:solidFill>
                <a:latin typeface="Arial"/>
              </a:rPr>
              <a:t>exponencial, binaria</a:t>
            </a:r>
          </a:p>
        </p:txBody>
      </p:sp>
      <p:sp>
        <p:nvSpPr>
          <p:cNvPr id="15" name="TextBox 14"/>
          <p:cNvSpPr txBox="1"/>
          <p:nvPr/>
        </p:nvSpPr>
        <p:spPr>
          <a:xfrm>
            <a:off x="3611880" y="2569464"/>
            <a:ext cx="2834640" cy="548640"/>
          </a:xfrm>
          <a:prstGeom prst="rect">
            <a:avLst/>
          </a:prstGeom>
          <a:noFill/>
        </p:spPr>
        <p:txBody>
          <a:bodyPr wrap="square" anchor="ctr" lIns="36576" rIns="36576" tIns="18288" bIns="18288">
            <a:spAutoFit/>
          </a:bodyPr>
          <a:lstStyle/>
          <a:p>
            <a:pPr algn="l">
              <a:lnSpc>
                <a:spcPct val="110000"/>
              </a:lnSpc>
            </a:pPr>
            <a:r>
              <a:rPr sz="1400" b="0" i="0">
                <a:solidFill>
                  <a:srgbClr val="14213D"/>
                </a:solidFill>
                <a:latin typeface="Cambria Math"/>
              </a:rPr>
              <a:t>E = −Σ exp(xᵀs)</a:t>
            </a:r>
          </a:p>
        </p:txBody>
      </p:sp>
      <p:sp>
        <p:nvSpPr>
          <p:cNvPr id="16" name="Rectangle 15"/>
          <p:cNvSpPr/>
          <p:nvPr/>
        </p:nvSpPr>
        <p:spPr>
          <a:xfrm>
            <a:off x="457200" y="3282696"/>
            <a:ext cx="868680" cy="548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82696"/>
            <a:ext cx="868680" cy="54864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2021</a:t>
            </a:r>
          </a:p>
        </p:txBody>
      </p:sp>
      <p:sp>
        <p:nvSpPr>
          <p:cNvPr id="18" name="TextBox 17"/>
          <p:cNvSpPr txBox="1"/>
          <p:nvPr/>
        </p:nvSpPr>
        <p:spPr>
          <a:xfrm>
            <a:off x="1463040" y="3282696"/>
            <a:ext cx="2103120" cy="548640"/>
          </a:xfrm>
          <a:prstGeom prst="rect">
            <a:avLst/>
          </a:prstGeom>
          <a:noFill/>
        </p:spPr>
        <p:txBody>
          <a:bodyPr wrap="square" anchor="ctr" lIns="36576" rIns="36576" tIns="18288" bIns="18288">
            <a:spAutoFit/>
          </a:bodyPr>
          <a:lstStyle/>
          <a:p>
            <a:pPr algn="l">
              <a:lnSpc>
                <a:spcPct val="100000"/>
              </a:lnSpc>
            </a:pPr>
            <a:r>
              <a:rPr sz="1300" b="1" i="0">
                <a:solidFill>
                  <a:srgbClr val="14213D"/>
                </a:solidFill>
                <a:latin typeface="Arial"/>
              </a:rPr>
              <a:t>Ramsauer et al.</a:t>
            </a:r>
          </a:p>
          <a:p>
            <a:pPr algn="l">
              <a:lnSpc>
                <a:spcPct val="100000"/>
              </a:lnSpc>
            </a:pPr>
            <a:r>
              <a:rPr sz="1100" b="0" i="0">
                <a:solidFill>
                  <a:srgbClr val="5B6472"/>
                </a:solidFill>
                <a:latin typeface="Arial"/>
              </a:rPr>
              <a:t>exponencial, continua</a:t>
            </a:r>
          </a:p>
        </p:txBody>
      </p:sp>
      <p:sp>
        <p:nvSpPr>
          <p:cNvPr id="19" name="TextBox 18"/>
          <p:cNvSpPr txBox="1"/>
          <p:nvPr/>
        </p:nvSpPr>
        <p:spPr>
          <a:xfrm>
            <a:off x="3611880" y="3282696"/>
            <a:ext cx="2834640" cy="548640"/>
          </a:xfrm>
          <a:prstGeom prst="rect">
            <a:avLst/>
          </a:prstGeom>
          <a:noFill/>
        </p:spPr>
        <p:txBody>
          <a:bodyPr wrap="square" anchor="ctr" lIns="36576" rIns="36576" tIns="18288" bIns="18288">
            <a:spAutoFit/>
          </a:bodyPr>
          <a:lstStyle/>
          <a:p>
            <a:pPr algn="l">
              <a:lnSpc>
                <a:spcPct val="110000"/>
              </a:lnSpc>
            </a:pPr>
            <a:r>
              <a:rPr sz="1400" b="1" i="0">
                <a:solidFill>
                  <a:srgbClr val="2A78D6"/>
                </a:solidFill>
                <a:latin typeface="Cambria Math"/>
              </a:rPr>
              <a:t>E = −lse(β, Xᵀξ) + ½ξᵀξ</a:t>
            </a:r>
          </a:p>
        </p:txBody>
      </p:sp>
      <p:sp>
        <p:nvSpPr>
          <p:cNvPr id="20" name="Rectangle 19"/>
          <p:cNvSpPr/>
          <p:nvPr/>
        </p:nvSpPr>
        <p:spPr>
          <a:xfrm>
            <a:off x="6492240" y="1143000"/>
            <a:ext cx="2194560" cy="27432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1234440"/>
            <a:ext cx="1965960" cy="2606040"/>
          </a:xfrm>
          <a:prstGeom prst="rect">
            <a:avLst/>
          </a:prstGeom>
          <a:noFill/>
        </p:spPr>
        <p:txBody>
          <a:bodyPr wrap="square" anchor="t" lIns="36576" rIns="36576" tIns="18288" bIns="18288">
            <a:spAutoFit/>
          </a:bodyPr>
          <a:lstStyle/>
          <a:p>
            <a:pPr algn="l">
              <a:lnSpc>
                <a:spcPct val="115000"/>
              </a:lnSpc>
            </a:pPr>
            <a:r>
              <a:rPr sz="1300" b="1" i="0">
                <a:solidFill>
                  <a:srgbClr val="14213D"/>
                </a:solidFill>
                <a:latin typeface="Cambria Math"/>
              </a:rPr>
              <a:t>lse(β, z)</a:t>
            </a:r>
          </a:p>
          <a:p>
            <a:pPr algn="l">
              <a:lnSpc>
                <a:spcPct val="115000"/>
              </a:lnSpc>
            </a:pPr>
            <a:r>
              <a:rPr sz="1200" b="0" i="0">
                <a:solidFill>
                  <a:srgbClr val="14213D"/>
                </a:solidFill>
                <a:latin typeface="Cambria Math"/>
              </a:rPr>
              <a:t>= β⁻¹ log Σ e^(βz)</a:t>
            </a:r>
          </a:p>
          <a:p>
            <a:pPr algn="l">
              <a:lnSpc>
                <a:spcPct val="115000"/>
              </a:lnSpc>
              <a:spcBef>
                <a:spcPts val="800"/>
              </a:spcBef>
            </a:pPr>
            <a:r>
              <a:rPr sz="1200" b="0" i="0">
                <a:solidFill>
                  <a:srgbClr val="14213D"/>
                </a:solidFill>
                <a:latin typeface="Arial"/>
              </a:rPr>
              <a:t>Un máximo suave: domina el patrón más parecido.</a:t>
            </a:r>
          </a:p>
          <a:p>
            <a:pPr algn="l">
              <a:lnSpc>
                <a:spcPct val="115000"/>
              </a:lnSpc>
              <a:spcBef>
                <a:spcPts val="800"/>
              </a:spcBef>
            </a:pPr>
            <a:r>
              <a:rPr sz="1200" b="0" i="0">
                <a:solidFill>
                  <a:srgbClr val="14213D"/>
                </a:solidFill>
                <a:latin typeface="Arial"/>
              </a:rPr>
              <a:t>½‖ξ‖² impide que el estado crezca sin límite.</a:t>
            </a:r>
          </a:p>
          <a:p>
            <a:pPr algn="l">
              <a:lnSpc>
                <a:spcPct val="115000"/>
              </a:lnSpc>
              <a:spcBef>
                <a:spcPts val="800"/>
              </a:spcBef>
            </a:pPr>
            <a:r>
              <a:rPr sz="1200" b="1" i="0">
                <a:solidFill>
                  <a:srgbClr val="2A78D6"/>
                </a:solidFill>
                <a:latin typeface="Arial"/>
              </a:rPr>
              <a:t>Capacidad: exponencial en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La regla de actualización: tres pasos</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43000"/>
            <a:ext cx="8229600" cy="6858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8229600" cy="685800"/>
          </a:xfrm>
          <a:prstGeom prst="rect">
            <a:avLst/>
          </a:prstGeom>
          <a:noFill/>
        </p:spPr>
        <p:txBody>
          <a:bodyPr wrap="square" anchor="ctr" lIns="36576" rIns="36576" tIns="18288" bIns="18288">
            <a:spAutoFit/>
          </a:bodyPr>
          <a:lstStyle/>
          <a:p>
            <a:pPr algn="ctr">
              <a:lnSpc>
                <a:spcPct val="110000"/>
              </a:lnSpc>
            </a:pPr>
            <a:r>
              <a:rPr sz="2600" b="1" i="0">
                <a:solidFill>
                  <a:srgbClr val="FFFFFF"/>
                </a:solidFill>
                <a:latin typeface="Cambria Math"/>
              </a:rPr>
              <a:t>ξ  ←  X · softmax( β Xᵀ ξ )</a:t>
            </a:r>
          </a:p>
        </p:txBody>
      </p:sp>
      <p:sp>
        <p:nvSpPr>
          <p:cNvPr id="6" name="Oval 5"/>
          <p:cNvSpPr/>
          <p:nvPr/>
        </p:nvSpPr>
        <p:spPr>
          <a:xfrm>
            <a:off x="457200" y="21031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411480" cy="41148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1</a:t>
            </a:r>
          </a:p>
        </p:txBody>
      </p:sp>
      <p:sp>
        <p:nvSpPr>
          <p:cNvPr id="8" name="TextBox 7"/>
          <p:cNvSpPr txBox="1"/>
          <p:nvPr/>
        </p:nvSpPr>
        <p:spPr>
          <a:xfrm>
            <a:off x="960120" y="2103120"/>
            <a:ext cx="2103120" cy="411480"/>
          </a:xfrm>
          <a:prstGeom prst="rect">
            <a:avLst/>
          </a:prstGeom>
          <a:noFill/>
        </p:spPr>
        <p:txBody>
          <a:bodyPr wrap="square" anchor="ctr" lIns="36576" rIns="36576" tIns="18288" bIns="18288">
            <a:spAutoFit/>
          </a:bodyPr>
          <a:lstStyle/>
          <a:p>
            <a:pPr algn="l">
              <a:lnSpc>
                <a:spcPct val="110000"/>
              </a:lnSpc>
            </a:pPr>
            <a:r>
              <a:rPr sz="1600" b="1" i="0">
                <a:solidFill>
                  <a:srgbClr val="14213D"/>
                </a:solidFill>
                <a:latin typeface="Arial"/>
              </a:rPr>
              <a:t>Comparar</a:t>
            </a:r>
          </a:p>
        </p:txBody>
      </p:sp>
      <p:sp>
        <p:nvSpPr>
          <p:cNvPr id="9" name="TextBox 8"/>
          <p:cNvSpPr txBox="1"/>
          <p:nvPr/>
        </p:nvSpPr>
        <p:spPr>
          <a:xfrm>
            <a:off x="457200" y="2606040"/>
            <a:ext cx="2606040" cy="914400"/>
          </a:xfrm>
          <a:prstGeom prst="rect">
            <a:avLst/>
          </a:prstGeom>
          <a:noFill/>
        </p:spPr>
        <p:txBody>
          <a:bodyPr wrap="square" anchor="t" lIns="36576" rIns="36576" tIns="18288" bIns="18288">
            <a:spAutoFit/>
          </a:bodyPr>
          <a:lstStyle/>
          <a:p>
            <a:pPr algn="l">
              <a:lnSpc>
                <a:spcPct val="115000"/>
              </a:lnSpc>
            </a:pPr>
            <a:r>
              <a:rPr sz="1300" b="0" i="0">
                <a:solidFill>
                  <a:srgbClr val="14213D"/>
                </a:solidFill>
                <a:latin typeface="Arial"/>
              </a:rPr>
              <a:t>Xᵀξ: producto escalar del estado con cada patrón guardado.</a:t>
            </a:r>
          </a:p>
        </p:txBody>
      </p:sp>
      <p:sp>
        <p:nvSpPr>
          <p:cNvPr id="10" name="Oval 9"/>
          <p:cNvSpPr/>
          <p:nvPr/>
        </p:nvSpPr>
        <p:spPr>
          <a:xfrm>
            <a:off x="3246120" y="21031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2103120"/>
            <a:ext cx="411480" cy="41148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2</a:t>
            </a:r>
          </a:p>
        </p:txBody>
      </p:sp>
      <p:sp>
        <p:nvSpPr>
          <p:cNvPr id="12" name="TextBox 11"/>
          <p:cNvSpPr txBox="1"/>
          <p:nvPr/>
        </p:nvSpPr>
        <p:spPr>
          <a:xfrm>
            <a:off x="3749039" y="2103120"/>
            <a:ext cx="2103120" cy="411480"/>
          </a:xfrm>
          <a:prstGeom prst="rect">
            <a:avLst/>
          </a:prstGeom>
          <a:noFill/>
        </p:spPr>
        <p:txBody>
          <a:bodyPr wrap="square" anchor="ctr" lIns="36576" rIns="36576" tIns="18288" bIns="18288">
            <a:spAutoFit/>
          </a:bodyPr>
          <a:lstStyle/>
          <a:p>
            <a:pPr algn="l">
              <a:lnSpc>
                <a:spcPct val="110000"/>
              </a:lnSpc>
            </a:pPr>
            <a:r>
              <a:rPr sz="1600" b="1" i="0">
                <a:solidFill>
                  <a:srgbClr val="14213D"/>
                </a:solidFill>
                <a:latin typeface="Arial"/>
              </a:rPr>
              <a:t>Repartir</a:t>
            </a:r>
          </a:p>
        </p:txBody>
      </p:sp>
      <p:sp>
        <p:nvSpPr>
          <p:cNvPr id="13" name="TextBox 12"/>
          <p:cNvSpPr txBox="1"/>
          <p:nvPr/>
        </p:nvSpPr>
        <p:spPr>
          <a:xfrm>
            <a:off x="3246120" y="2606040"/>
            <a:ext cx="2606040" cy="914400"/>
          </a:xfrm>
          <a:prstGeom prst="rect">
            <a:avLst/>
          </a:prstGeom>
          <a:noFill/>
        </p:spPr>
        <p:txBody>
          <a:bodyPr wrap="square" anchor="t" lIns="36576" rIns="36576" tIns="18288" bIns="18288">
            <a:spAutoFit/>
          </a:bodyPr>
          <a:lstStyle/>
          <a:p>
            <a:pPr algn="l">
              <a:lnSpc>
                <a:spcPct val="115000"/>
              </a:lnSpc>
            </a:pPr>
            <a:r>
              <a:rPr sz="1300" b="0" i="0">
                <a:solidFill>
                  <a:srgbClr val="14213D"/>
                </a:solidFill>
                <a:latin typeface="Arial"/>
              </a:rPr>
              <a:t>softmax con temperatura inversa β: pesos ≥ 0 que suman 1.</a:t>
            </a:r>
          </a:p>
        </p:txBody>
      </p:sp>
      <p:sp>
        <p:nvSpPr>
          <p:cNvPr id="14" name="Oval 13"/>
          <p:cNvSpPr/>
          <p:nvPr/>
        </p:nvSpPr>
        <p:spPr>
          <a:xfrm>
            <a:off x="6035040" y="21031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103120"/>
            <a:ext cx="411480" cy="411480"/>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3</a:t>
            </a:r>
          </a:p>
        </p:txBody>
      </p:sp>
      <p:sp>
        <p:nvSpPr>
          <p:cNvPr id="16" name="TextBox 15"/>
          <p:cNvSpPr txBox="1"/>
          <p:nvPr/>
        </p:nvSpPr>
        <p:spPr>
          <a:xfrm>
            <a:off x="6537959" y="2103120"/>
            <a:ext cx="2103120" cy="411480"/>
          </a:xfrm>
          <a:prstGeom prst="rect">
            <a:avLst/>
          </a:prstGeom>
          <a:noFill/>
        </p:spPr>
        <p:txBody>
          <a:bodyPr wrap="square" anchor="ctr" lIns="36576" rIns="36576" tIns="18288" bIns="18288">
            <a:spAutoFit/>
          </a:bodyPr>
          <a:lstStyle/>
          <a:p>
            <a:pPr algn="l">
              <a:lnSpc>
                <a:spcPct val="110000"/>
              </a:lnSpc>
            </a:pPr>
            <a:r>
              <a:rPr sz="1600" b="1" i="0">
                <a:solidFill>
                  <a:srgbClr val="14213D"/>
                </a:solidFill>
                <a:latin typeface="Arial"/>
              </a:rPr>
              <a:t>Promediar</a:t>
            </a:r>
          </a:p>
        </p:txBody>
      </p:sp>
      <p:sp>
        <p:nvSpPr>
          <p:cNvPr id="17" name="TextBox 16"/>
          <p:cNvSpPr txBox="1"/>
          <p:nvPr/>
        </p:nvSpPr>
        <p:spPr>
          <a:xfrm>
            <a:off x="6035040" y="2606040"/>
            <a:ext cx="2606040" cy="914400"/>
          </a:xfrm>
          <a:prstGeom prst="rect">
            <a:avLst/>
          </a:prstGeom>
          <a:noFill/>
        </p:spPr>
        <p:txBody>
          <a:bodyPr wrap="square" anchor="t" lIns="36576" rIns="36576" tIns="18288" bIns="18288">
            <a:spAutoFit/>
          </a:bodyPr>
          <a:lstStyle/>
          <a:p>
            <a:pPr algn="l">
              <a:lnSpc>
                <a:spcPct val="115000"/>
              </a:lnSpc>
            </a:pPr>
            <a:r>
              <a:rPr sz="1300" b="0" i="0">
                <a:solidFill>
                  <a:srgbClr val="14213D"/>
                </a:solidFill>
                <a:latin typeface="Arial"/>
              </a:rPr>
              <a:t>El nuevo estado es la media de los patrones con esos pesos.</a:t>
            </a:r>
          </a:p>
        </p:txBody>
      </p:sp>
      <p:sp>
        <p:nvSpPr>
          <p:cNvPr id="18" name="TextBox 17"/>
          <p:cNvSpPr txBox="1"/>
          <p:nvPr/>
        </p:nvSpPr>
        <p:spPr>
          <a:xfrm>
            <a:off x="457200" y="3520440"/>
            <a:ext cx="8229600" cy="1097280"/>
          </a:xfrm>
          <a:prstGeom prst="rect">
            <a:avLst/>
          </a:prstGeom>
          <a:noFill/>
        </p:spPr>
        <p:txBody>
          <a:bodyPr wrap="square" anchor="t" lIns="36576" rIns="36576" tIns="18288" bIns="18288">
            <a:spAutoFit/>
          </a:bodyPr>
          <a:lstStyle/>
          <a:p>
            <a:pPr algn="l">
              <a:lnSpc>
                <a:spcPct val="110000"/>
              </a:lnSpc>
            </a:pPr>
            <a:r>
              <a:rPr sz="900" b="0" i="0">
                <a:solidFill>
                  <a:srgbClr val="2A78D6"/>
                </a:solidFill>
                <a:latin typeface="Arial"/>
              </a:rPr>
              <a:t>■  </a:t>
            </a:r>
            <a:r>
              <a:rPr sz="1300" b="1" i="0">
                <a:solidFill>
                  <a:srgbClr val="14213D"/>
                </a:solidFill>
                <a:latin typeface="Arial"/>
              </a:rPr>
              <a:t>Sin pesos que entrenar: </a:t>
            </a:r>
            <a:r>
              <a:rPr sz="1300" b="0" i="0">
                <a:solidFill>
                  <a:srgbClr val="14213D"/>
                </a:solidFill>
                <a:latin typeface="Arial"/>
              </a:rPr>
              <a:t>la memoria es la propia matriz de patrones X.</a:t>
            </a:r>
          </a:p>
          <a:p>
            <a:pPr algn="l">
              <a:lnSpc>
                <a:spcPct val="110000"/>
              </a:lnSpc>
              <a:spcBef>
                <a:spcPts val="500"/>
              </a:spcBef>
            </a:pPr>
            <a:r>
              <a:rPr sz="900" b="0" i="0">
                <a:solidFill>
                  <a:srgbClr val="2A78D6"/>
                </a:solidFill>
                <a:latin typeface="Arial"/>
              </a:rPr>
              <a:t>■  </a:t>
            </a:r>
            <a:r>
              <a:rPr sz="1300" b="1" i="0">
                <a:solidFill>
                  <a:srgbClr val="14213D"/>
                </a:solidFill>
                <a:latin typeface="Arial"/>
              </a:rPr>
              <a:t>Teoremas: </a:t>
            </a:r>
            <a:r>
              <a:rPr sz="1300" b="0" i="0">
                <a:solidFill>
                  <a:srgbClr val="14213D"/>
                </a:solidFill>
                <a:latin typeface="Arial"/>
              </a:rPr>
              <a:t>la energía nunca sube, la iteración converge y, con patrones separados, </a:t>
            </a:r>
            <a:r>
              <a:rPr sz="1300" b="1" i="0">
                <a:solidFill>
                  <a:srgbClr val="2A78D6"/>
                </a:solidFill>
                <a:latin typeface="Arial"/>
              </a:rPr>
              <a:t>un paso basta</a:t>
            </a:r>
            <a:r>
              <a:rPr sz="1300" b="0" i="0">
                <a:solidFill>
                  <a:srgbClr val="14213D"/>
                </a:solidFill>
                <a:latin typeface="Arial"/>
              </a:rPr>
              <a:t> con error exponencialmente pequeño.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El resultado central: Hopfield = atención</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2377440" cy="320040"/>
          </a:xfrm>
          <a:prstGeom prst="rect">
            <a:avLst/>
          </a:prstGeom>
          <a:noFill/>
        </p:spPr>
        <p:txBody>
          <a:bodyPr wrap="square" anchor="t" lIns="36576" rIns="36576" tIns="18288" bIns="18288">
            <a:spAutoFit/>
          </a:bodyPr>
          <a:lstStyle/>
          <a:p>
            <a:pPr algn="l">
              <a:lnSpc>
                <a:spcPct val="110000"/>
              </a:lnSpc>
            </a:pPr>
            <a:r>
              <a:rPr sz="1300" b="1" i="0">
                <a:solidFill>
                  <a:srgbClr val="5B6472"/>
                </a:solidFill>
                <a:latin typeface="Arial"/>
              </a:rPr>
              <a:t>Hopfield</a:t>
            </a:r>
          </a:p>
        </p:txBody>
      </p:sp>
      <p:sp>
        <p:nvSpPr>
          <p:cNvPr id="5" name="TextBox 4"/>
          <p:cNvSpPr txBox="1"/>
          <p:nvPr/>
        </p:nvSpPr>
        <p:spPr>
          <a:xfrm>
            <a:off x="2926080" y="1097280"/>
            <a:ext cx="1828800" cy="320040"/>
          </a:xfrm>
          <a:prstGeom prst="rect">
            <a:avLst/>
          </a:prstGeom>
          <a:noFill/>
        </p:spPr>
        <p:txBody>
          <a:bodyPr wrap="square" anchor="t" lIns="36576" rIns="36576" tIns="18288" bIns="18288">
            <a:spAutoFit/>
          </a:bodyPr>
          <a:lstStyle/>
          <a:p>
            <a:pPr algn="l">
              <a:lnSpc>
                <a:spcPct val="110000"/>
              </a:lnSpc>
            </a:pPr>
            <a:r>
              <a:rPr sz="1300" b="1" i="0">
                <a:solidFill>
                  <a:srgbClr val="5B6472"/>
                </a:solidFill>
                <a:latin typeface="Arial"/>
              </a:rPr>
              <a:t>Transformer</a:t>
            </a:r>
          </a:p>
        </p:txBody>
      </p:sp>
      <p:sp>
        <p:nvSpPr>
          <p:cNvPr id="6" name="Rectangle 5"/>
          <p:cNvSpPr/>
          <p:nvPr/>
        </p:nvSpPr>
        <p:spPr>
          <a:xfrm>
            <a:off x="457200" y="1417320"/>
            <a:ext cx="2377440" cy="38404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2286000" cy="384048"/>
          </a:xfrm>
          <a:prstGeom prst="rect">
            <a:avLst/>
          </a:prstGeom>
          <a:noFill/>
        </p:spPr>
        <p:txBody>
          <a:bodyPr wrap="square" anchor="ctr" lIns="36576" rIns="36576" tIns="18288" bIns="18288">
            <a:spAutoFit/>
          </a:bodyPr>
          <a:lstStyle/>
          <a:p>
            <a:pPr algn="l">
              <a:lnSpc>
                <a:spcPct val="110000"/>
              </a:lnSpc>
            </a:pPr>
            <a:r>
              <a:rPr sz="1200" b="0" i="0">
                <a:solidFill>
                  <a:srgbClr val="14213D"/>
                </a:solidFill>
                <a:latin typeface="Arial"/>
              </a:rPr>
              <a:t>Estado ξ (consultas R)</a:t>
            </a:r>
          </a:p>
        </p:txBody>
      </p:sp>
      <p:sp>
        <p:nvSpPr>
          <p:cNvPr id="8" name="TextBox 7"/>
          <p:cNvSpPr txBox="1"/>
          <p:nvPr/>
        </p:nvSpPr>
        <p:spPr>
          <a:xfrm>
            <a:off x="2926080" y="1417320"/>
            <a:ext cx="1828800" cy="384048"/>
          </a:xfrm>
          <a:prstGeom prst="rect">
            <a:avLst/>
          </a:prstGeom>
          <a:noFill/>
        </p:spPr>
        <p:txBody>
          <a:bodyPr wrap="square" anchor="ctr" lIns="36576" rIns="36576" tIns="18288" bIns="18288">
            <a:spAutoFit/>
          </a:bodyPr>
          <a:lstStyle/>
          <a:p>
            <a:pPr algn="l">
              <a:lnSpc>
                <a:spcPct val="110000"/>
              </a:lnSpc>
            </a:pPr>
            <a:r>
              <a:rPr sz="1300" b="1" i="0">
                <a:solidFill>
                  <a:srgbClr val="2A78D6"/>
                </a:solidFill>
                <a:latin typeface="Cambria Math"/>
              </a:rPr>
              <a:t>Q = R·W_Q</a:t>
            </a:r>
          </a:p>
        </p:txBody>
      </p:sp>
      <p:sp>
        <p:nvSpPr>
          <p:cNvPr id="9" name="Rectangle 8"/>
          <p:cNvSpPr/>
          <p:nvPr/>
        </p:nvSpPr>
        <p:spPr>
          <a:xfrm>
            <a:off x="457200" y="1874519"/>
            <a:ext cx="2377440" cy="38404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2286000" cy="384048"/>
          </a:xfrm>
          <a:prstGeom prst="rect">
            <a:avLst/>
          </a:prstGeom>
          <a:noFill/>
        </p:spPr>
        <p:txBody>
          <a:bodyPr wrap="square" anchor="ctr" lIns="36576" rIns="36576" tIns="18288" bIns="18288">
            <a:spAutoFit/>
          </a:bodyPr>
          <a:lstStyle/>
          <a:p>
            <a:pPr algn="l">
              <a:lnSpc>
                <a:spcPct val="110000"/>
              </a:lnSpc>
            </a:pPr>
            <a:r>
              <a:rPr sz="1200" b="0" i="0">
                <a:solidFill>
                  <a:srgbClr val="14213D"/>
                </a:solidFill>
                <a:latin typeface="Arial"/>
              </a:rPr>
              <a:t>Patrones guardados Y</a:t>
            </a:r>
          </a:p>
        </p:txBody>
      </p:sp>
      <p:sp>
        <p:nvSpPr>
          <p:cNvPr id="11" name="TextBox 10"/>
          <p:cNvSpPr txBox="1"/>
          <p:nvPr/>
        </p:nvSpPr>
        <p:spPr>
          <a:xfrm>
            <a:off x="2926080" y="1874519"/>
            <a:ext cx="1828800" cy="384048"/>
          </a:xfrm>
          <a:prstGeom prst="rect">
            <a:avLst/>
          </a:prstGeom>
          <a:noFill/>
        </p:spPr>
        <p:txBody>
          <a:bodyPr wrap="square" anchor="ctr" lIns="36576" rIns="36576" tIns="18288" bIns="18288">
            <a:spAutoFit/>
          </a:bodyPr>
          <a:lstStyle/>
          <a:p>
            <a:pPr algn="l">
              <a:lnSpc>
                <a:spcPct val="110000"/>
              </a:lnSpc>
            </a:pPr>
            <a:r>
              <a:rPr sz="1300" b="1" i="0">
                <a:solidFill>
                  <a:srgbClr val="2A78D6"/>
                </a:solidFill>
                <a:latin typeface="Cambria Math"/>
              </a:rPr>
              <a:t>K = Y·W_K</a:t>
            </a:r>
          </a:p>
        </p:txBody>
      </p:sp>
      <p:sp>
        <p:nvSpPr>
          <p:cNvPr id="12" name="Rectangle 11"/>
          <p:cNvSpPr/>
          <p:nvPr/>
        </p:nvSpPr>
        <p:spPr>
          <a:xfrm>
            <a:off x="457200" y="2331720"/>
            <a:ext cx="2377440" cy="38404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331720"/>
            <a:ext cx="2286000" cy="384048"/>
          </a:xfrm>
          <a:prstGeom prst="rect">
            <a:avLst/>
          </a:prstGeom>
          <a:noFill/>
        </p:spPr>
        <p:txBody>
          <a:bodyPr wrap="square" anchor="ctr" lIns="36576" rIns="36576" tIns="18288" bIns="18288">
            <a:spAutoFit/>
          </a:bodyPr>
          <a:lstStyle/>
          <a:p>
            <a:pPr algn="l">
              <a:lnSpc>
                <a:spcPct val="110000"/>
              </a:lnSpc>
            </a:pPr>
            <a:r>
              <a:rPr sz="1200" b="0" i="0">
                <a:solidFill>
                  <a:srgbClr val="14213D"/>
                </a:solidFill>
                <a:latin typeface="Arial"/>
              </a:rPr>
              <a:t>Lo que se devuelve</a:t>
            </a:r>
          </a:p>
        </p:txBody>
      </p:sp>
      <p:sp>
        <p:nvSpPr>
          <p:cNvPr id="14" name="TextBox 13"/>
          <p:cNvSpPr txBox="1"/>
          <p:nvPr/>
        </p:nvSpPr>
        <p:spPr>
          <a:xfrm>
            <a:off x="2926080" y="2331720"/>
            <a:ext cx="1828800" cy="384048"/>
          </a:xfrm>
          <a:prstGeom prst="rect">
            <a:avLst/>
          </a:prstGeom>
          <a:noFill/>
        </p:spPr>
        <p:txBody>
          <a:bodyPr wrap="square" anchor="ctr" lIns="36576" rIns="36576" tIns="18288" bIns="18288">
            <a:spAutoFit/>
          </a:bodyPr>
          <a:lstStyle/>
          <a:p>
            <a:pPr algn="l">
              <a:lnSpc>
                <a:spcPct val="110000"/>
              </a:lnSpc>
            </a:pPr>
            <a:r>
              <a:rPr sz="1300" b="1" i="0">
                <a:solidFill>
                  <a:srgbClr val="2A78D6"/>
                </a:solidFill>
                <a:latin typeface="Cambria Math"/>
              </a:rPr>
              <a:t>V = K·W_V</a:t>
            </a:r>
          </a:p>
        </p:txBody>
      </p:sp>
      <p:sp>
        <p:nvSpPr>
          <p:cNvPr id="15" name="Rectangle 14"/>
          <p:cNvSpPr/>
          <p:nvPr/>
        </p:nvSpPr>
        <p:spPr>
          <a:xfrm>
            <a:off x="457200" y="2788920"/>
            <a:ext cx="2377440" cy="38404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88920"/>
            <a:ext cx="2286000" cy="384048"/>
          </a:xfrm>
          <a:prstGeom prst="rect">
            <a:avLst/>
          </a:prstGeom>
          <a:noFill/>
        </p:spPr>
        <p:txBody>
          <a:bodyPr wrap="square" anchor="ctr" lIns="36576" rIns="36576" tIns="18288" bIns="18288">
            <a:spAutoFit/>
          </a:bodyPr>
          <a:lstStyle/>
          <a:p>
            <a:pPr algn="l">
              <a:lnSpc>
                <a:spcPct val="110000"/>
              </a:lnSpc>
            </a:pPr>
            <a:r>
              <a:rPr sz="1200" b="0" i="0">
                <a:solidFill>
                  <a:srgbClr val="14213D"/>
                </a:solidFill>
                <a:latin typeface="Arial"/>
              </a:rPr>
              <a:t>Temperatura inversa β</a:t>
            </a:r>
          </a:p>
        </p:txBody>
      </p:sp>
      <p:sp>
        <p:nvSpPr>
          <p:cNvPr id="17" name="TextBox 16"/>
          <p:cNvSpPr txBox="1"/>
          <p:nvPr/>
        </p:nvSpPr>
        <p:spPr>
          <a:xfrm>
            <a:off x="2926080" y="2788920"/>
            <a:ext cx="1828800" cy="384048"/>
          </a:xfrm>
          <a:prstGeom prst="rect">
            <a:avLst/>
          </a:prstGeom>
          <a:noFill/>
        </p:spPr>
        <p:txBody>
          <a:bodyPr wrap="square" anchor="ctr" lIns="36576" rIns="36576" tIns="18288" bIns="18288">
            <a:spAutoFit/>
          </a:bodyPr>
          <a:lstStyle/>
          <a:p>
            <a:pPr algn="l">
              <a:lnSpc>
                <a:spcPct val="110000"/>
              </a:lnSpc>
            </a:pPr>
            <a:r>
              <a:rPr sz="1300" b="1" i="0">
                <a:solidFill>
                  <a:srgbClr val="2A78D6"/>
                </a:solidFill>
                <a:latin typeface="Cambria Math"/>
              </a:rPr>
              <a:t>1/√dₖ</a:t>
            </a:r>
          </a:p>
        </p:txBody>
      </p:sp>
      <p:sp>
        <p:nvSpPr>
          <p:cNvPr id="18" name="Rectangle 17"/>
          <p:cNvSpPr/>
          <p:nvPr/>
        </p:nvSpPr>
        <p:spPr>
          <a:xfrm>
            <a:off x="457200" y="3337560"/>
            <a:ext cx="4297680" cy="5486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337560"/>
            <a:ext cx="4297680" cy="548640"/>
          </a:xfrm>
          <a:prstGeom prst="rect">
            <a:avLst/>
          </a:prstGeom>
          <a:noFill/>
        </p:spPr>
        <p:txBody>
          <a:bodyPr wrap="square" anchor="ctr" lIns="36576" rIns="36576" tIns="18288" bIns="18288">
            <a:spAutoFit/>
          </a:bodyPr>
          <a:lstStyle/>
          <a:p>
            <a:pPr algn="ctr">
              <a:lnSpc>
                <a:spcPct val="110000"/>
              </a:lnSpc>
            </a:pPr>
            <a:r>
              <a:rPr sz="1800" b="1" i="0">
                <a:solidFill>
                  <a:srgbClr val="FFFFFF"/>
                </a:solidFill>
                <a:latin typeface="Cambria Math"/>
              </a:rPr>
              <a:t>Z = softmax(Q Kᵀ / √dₖ) V</a:t>
            </a:r>
          </a:p>
        </p:txBody>
      </p:sp>
      <p:sp>
        <p:nvSpPr>
          <p:cNvPr id="20" name="TextBox 19"/>
          <p:cNvSpPr txBox="1"/>
          <p:nvPr/>
        </p:nvSpPr>
        <p:spPr>
          <a:xfrm>
            <a:off x="457200" y="3977639"/>
            <a:ext cx="4297680" cy="548640"/>
          </a:xfrm>
          <a:prstGeom prst="rect">
            <a:avLst/>
          </a:prstGeom>
          <a:noFill/>
        </p:spPr>
        <p:txBody>
          <a:bodyPr wrap="square" anchor="t" lIns="36576" rIns="36576" tIns="18288" bIns="18288">
            <a:spAutoFit/>
          </a:bodyPr>
          <a:lstStyle/>
          <a:p>
            <a:pPr algn="l">
              <a:lnSpc>
                <a:spcPct val="110000"/>
              </a:lnSpc>
            </a:pPr>
            <a:r>
              <a:rPr sz="1200" b="1" i="0">
                <a:solidFill>
                  <a:srgbClr val="5B6472"/>
                </a:solidFill>
                <a:latin typeface="Arial"/>
              </a:rPr>
              <a:t>Nuestra verificación numérica: diferencia máxima ≤ 10⁻¹². </a:t>
            </a:r>
            <a:r>
              <a:rPr sz="1200" b="0" i="0">
                <a:solidFill>
                  <a:srgbClr val="5B6472"/>
                </a:solidFill>
                <a:latin typeface="Arial"/>
              </a:rPr>
              <a:t>Es la misma operación.</a:t>
            </a:r>
          </a:p>
        </p:txBody>
      </p:sp>
      <p:pic>
        <p:nvPicPr>
          <p:cNvPr id="21" name="Picture 20" descr="13_pesos_atencion.png"/>
          <p:cNvPicPr>
            <a:picLocks noChangeAspect="1"/>
          </p:cNvPicPr>
          <p:nvPr/>
        </p:nvPicPr>
        <p:blipFill>
          <a:blip r:embed="rId2"/>
          <a:stretch>
            <a:fillRect/>
          </a:stretch>
        </p:blipFill>
        <p:spPr>
          <a:xfrm>
            <a:off x="5074920" y="1051560"/>
            <a:ext cx="3656275" cy="2834640"/>
          </a:xfrm>
          <a:prstGeom prst="rect">
            <a:avLst/>
          </a:prstGeom>
        </p:spPr>
      </p:pic>
      <p:sp>
        <p:nvSpPr>
          <p:cNvPr id="22" name="TextBox 21"/>
          <p:cNvSpPr txBox="1"/>
          <p:nvPr/>
        </p:nvSpPr>
        <p:spPr>
          <a:xfrm>
            <a:off x="5074920" y="4114800"/>
            <a:ext cx="3657600" cy="457200"/>
          </a:xfrm>
          <a:prstGeom prst="rect">
            <a:avLst/>
          </a:prstGeom>
          <a:noFill/>
        </p:spPr>
        <p:txBody>
          <a:bodyPr wrap="square" anchor="t" lIns="36576" rIns="36576" tIns="18288" bIns="18288">
            <a:spAutoFit/>
          </a:bodyPr>
          <a:lstStyle/>
          <a:p>
            <a:pPr algn="l">
              <a:lnSpc>
                <a:spcPct val="110000"/>
              </a:lnSpc>
            </a:pPr>
            <a:r>
              <a:rPr sz="1100" b="0" i="0">
                <a:solidFill>
                  <a:srgbClr val="5B6472"/>
                </a:solidFill>
                <a:latin typeface="Arial"/>
              </a:rPr>
              <a:t>Atención con K = V = letras: cada consulta ruidosa elige su letra.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Nuestra implementación: las letras de la Actividad 5</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3_ruido_abcd.png"/>
          <p:cNvPicPr>
            <a:picLocks noChangeAspect="1"/>
          </p:cNvPicPr>
          <p:nvPr/>
        </p:nvPicPr>
        <p:blipFill>
          <a:blip r:embed="rId2"/>
          <a:stretch>
            <a:fillRect/>
          </a:stretch>
        </p:blipFill>
        <p:spPr>
          <a:xfrm>
            <a:off x="365760" y="1051560"/>
            <a:ext cx="4969881" cy="3246120"/>
          </a:xfrm>
          <a:prstGeom prst="rect">
            <a:avLst/>
          </a:prstGeom>
        </p:spPr>
      </p:pic>
      <p:sp>
        <p:nvSpPr>
          <p:cNvPr id="5" name="TextBox 4"/>
          <p:cNvSpPr txBox="1"/>
          <p:nvPr/>
        </p:nvSpPr>
        <p:spPr>
          <a:xfrm>
            <a:off x="5806440" y="1143000"/>
            <a:ext cx="2971800" cy="3291840"/>
          </a:xfrm>
          <a:prstGeom prst="rect">
            <a:avLst/>
          </a:prstGeom>
          <a:noFill/>
        </p:spPr>
        <p:txBody>
          <a:bodyPr wrap="square" anchor="t" lIns="36576" rIns="36576" tIns="18288" bIns="18288">
            <a:spAutoFit/>
          </a:bodyPr>
          <a:lstStyle/>
          <a:p>
            <a:pPr algn="l">
              <a:lnSpc>
                <a:spcPct val="110000"/>
              </a:lnSpc>
            </a:pPr>
            <a:r>
              <a:rPr sz="800" b="0" i="0">
                <a:solidFill>
                  <a:srgbClr val="2A78D6"/>
                </a:solidFill>
                <a:latin typeface="Arial"/>
              </a:rPr>
              <a:t>■  </a:t>
            </a:r>
            <a:r>
              <a:rPr sz="1200" b="1" i="0">
                <a:solidFill>
                  <a:srgbClr val="14213D"/>
                </a:solidFill>
                <a:latin typeface="Arial"/>
              </a:rPr>
              <a:t>numpy puro: </a:t>
            </a:r>
            <a:r>
              <a:rPr sz="1100" b="0" i="0">
                <a:solidFill>
                  <a:srgbClr val="14213D"/>
                </a:solidFill>
                <a:latin typeface="Courier New"/>
              </a:rPr>
              <a:t>ce_rna/hopfield_moderna.py</a:t>
            </a:r>
          </a:p>
          <a:p>
            <a:pPr algn="l">
              <a:lnSpc>
                <a:spcPct val="110000"/>
              </a:lnSpc>
              <a:spcBef>
                <a:spcPts val="600"/>
              </a:spcBef>
            </a:pPr>
            <a:r>
              <a:rPr sz="800" b="0" i="0">
                <a:solidFill>
                  <a:srgbClr val="2A78D6"/>
                </a:solidFill>
                <a:latin typeface="Arial"/>
              </a:rPr>
              <a:t>■  </a:t>
            </a:r>
            <a:r>
              <a:rPr sz="1200" b="1" i="0">
                <a:solidFill>
                  <a:srgbClr val="2A78D6"/>
                </a:solidFill>
                <a:latin typeface="Arial"/>
              </a:rPr>
              <a:t>Un paso</a:t>
            </a:r>
            <a:r>
              <a:rPr sz="1200" b="0" i="0">
                <a:solidFill>
                  <a:srgbClr val="14213D"/>
                </a:solidFill>
                <a:latin typeface="Arial"/>
              </a:rPr>
              <a:t> basta para recuperar las cuatro letras.</a:t>
            </a:r>
          </a:p>
          <a:p>
            <a:pPr algn="l">
              <a:lnSpc>
                <a:spcPct val="110000"/>
              </a:lnSpc>
              <a:spcBef>
                <a:spcPts val="600"/>
              </a:spcBef>
            </a:pPr>
            <a:r>
              <a:rPr sz="800" b="0" i="0">
                <a:solidFill>
                  <a:srgbClr val="2A78D6"/>
                </a:solidFill>
                <a:latin typeface="Arial"/>
              </a:rPr>
              <a:t>■  </a:t>
            </a:r>
            <a:r>
              <a:rPr sz="1200" b="1" i="0">
                <a:solidFill>
                  <a:srgbClr val="14213D"/>
                </a:solidFill>
                <a:latin typeface="Arial"/>
              </a:rPr>
              <a:t>Con 16 de 42 px invertidos: </a:t>
            </a:r>
            <a:r>
              <a:rPr sz="1200" b="0" i="0">
                <a:solidFill>
                  <a:srgbClr val="14213D"/>
                </a:solidFill>
                <a:latin typeface="Arial"/>
              </a:rPr>
              <a:t>clásica 33 %, moderna 79 %.</a:t>
            </a:r>
          </a:p>
          <a:p>
            <a:pPr algn="l">
              <a:lnSpc>
                <a:spcPct val="110000"/>
              </a:lnSpc>
              <a:spcBef>
                <a:spcPts val="600"/>
              </a:spcBef>
            </a:pPr>
            <a:r>
              <a:rPr sz="800" b="0" i="0">
                <a:solidFill>
                  <a:srgbClr val="2A78D6"/>
                </a:solidFill>
                <a:latin typeface="Arial"/>
              </a:rPr>
              <a:t>■  </a:t>
            </a:r>
            <a:r>
              <a:rPr sz="1200" b="1" i="0">
                <a:solidFill>
                  <a:srgbClr val="14213D"/>
                </a:solidFill>
                <a:latin typeface="Arial"/>
              </a:rPr>
              <a:t>Igual que el vecino más cercano: </a:t>
            </a:r>
            <a:r>
              <a:rPr sz="1200" b="0" i="0">
                <a:solidFill>
                  <a:srgbClr val="14213D"/>
                </a:solidFill>
                <a:latin typeface="Arial"/>
              </a:rPr>
              <a:t>solo falla cuando la consulta ya se parece más a otra letra.</a:t>
            </a:r>
          </a:p>
          <a:p>
            <a:pPr algn="l">
              <a:lnSpc>
                <a:spcPct val="110000"/>
              </a:lnSpc>
              <a:spcBef>
                <a:spcPts val="600"/>
              </a:spcBef>
            </a:pPr>
            <a:r>
              <a:rPr sz="800" b="0" i="0">
                <a:solidFill>
                  <a:srgbClr val="2A78D6"/>
                </a:solidFill>
                <a:latin typeface="Arial"/>
              </a:rPr>
              <a:t>■  </a:t>
            </a:r>
            <a:r>
              <a:rPr sz="1200" b="1" i="0">
                <a:solidFill>
                  <a:srgbClr val="14213D"/>
                </a:solidFill>
                <a:latin typeface="Arial"/>
              </a:rPr>
              <a:t>Sin estados espurios ni inversos.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Capacidad: de 6 patrones a miles</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3_capacidad.png"/>
          <p:cNvPicPr>
            <a:picLocks noChangeAspect="1"/>
          </p:cNvPicPr>
          <p:nvPr/>
        </p:nvPicPr>
        <p:blipFill>
          <a:blip r:embed="rId2"/>
          <a:stretch>
            <a:fillRect/>
          </a:stretch>
        </p:blipFill>
        <p:spPr>
          <a:xfrm>
            <a:off x="365760" y="1051560"/>
            <a:ext cx="4933866" cy="3246120"/>
          </a:xfrm>
          <a:prstGeom prst="rect">
            <a:avLst/>
          </a:prstGeom>
        </p:spPr>
      </p:pic>
      <p:sp>
        <p:nvSpPr>
          <p:cNvPr id="5" name="TextBox 4"/>
          <p:cNvSpPr txBox="1"/>
          <p:nvPr/>
        </p:nvSpPr>
        <p:spPr>
          <a:xfrm>
            <a:off x="5806440" y="1143000"/>
            <a:ext cx="2971800" cy="3383280"/>
          </a:xfrm>
          <a:prstGeom prst="rect">
            <a:avLst/>
          </a:prstGeom>
          <a:noFill/>
        </p:spPr>
        <p:txBody>
          <a:bodyPr wrap="square" anchor="t" lIns="36576" rIns="36576" tIns="18288" bIns="18288">
            <a:spAutoFit/>
          </a:bodyPr>
          <a:lstStyle/>
          <a:p>
            <a:pPr algn="l">
              <a:lnSpc>
                <a:spcPct val="110000"/>
              </a:lnSpc>
            </a:pPr>
            <a:r>
              <a:rPr sz="800" b="0" i="0">
                <a:solidFill>
                  <a:srgbClr val="2A78D6"/>
                </a:solidFill>
                <a:latin typeface="Arial"/>
              </a:rPr>
              <a:t>■  </a:t>
            </a:r>
            <a:r>
              <a:rPr sz="1200" b="1" i="0">
                <a:solidFill>
                  <a:srgbClr val="14213D"/>
                </a:solidFill>
                <a:latin typeface="Arial"/>
              </a:rPr>
              <a:t>Alfabeto completo (26 letras): </a:t>
            </a:r>
            <a:r>
              <a:rPr sz="1200" b="0" i="0">
                <a:solidFill>
                  <a:srgbClr val="14213D"/>
                </a:solidFill>
                <a:latin typeface="Arial"/>
              </a:rPr>
              <a:t>Hebb 0 %, moderna 99–100 %.</a:t>
            </a:r>
          </a:p>
          <a:p>
            <a:pPr algn="l">
              <a:lnSpc>
                <a:spcPct val="110000"/>
              </a:lnSpc>
              <a:spcBef>
                <a:spcPts val="600"/>
              </a:spcBef>
            </a:pPr>
            <a:r>
              <a:rPr sz="800" b="0" i="0">
                <a:solidFill>
                  <a:srgbClr val="2A78D6"/>
                </a:solidFill>
                <a:latin typeface="Arial"/>
              </a:rPr>
              <a:t>■  </a:t>
            </a:r>
            <a:r>
              <a:rPr sz="1200" b="1" i="0">
                <a:solidFill>
                  <a:srgbClr val="14213D"/>
                </a:solidFill>
                <a:latin typeface="Arial"/>
              </a:rPr>
              <a:t>Patrones aleatorios, d = 42: </a:t>
            </a:r>
            <a:r>
              <a:rPr sz="1200" b="0" i="0">
                <a:solidFill>
                  <a:srgbClr val="14213D"/>
                </a:solidFill>
                <a:latin typeface="Arial"/>
              </a:rPr>
              <a:t>la clásica cae cerca de 0.138·d; la moderna recupera 3000 al 100 %.</a:t>
            </a:r>
          </a:p>
          <a:p>
            <a:pPr algn="l">
              <a:lnSpc>
                <a:spcPct val="110000"/>
              </a:lnSpc>
              <a:spcBef>
                <a:spcPts val="600"/>
              </a:spcBef>
            </a:pPr>
            <a:r>
              <a:rPr sz="800" b="0" i="0">
                <a:solidFill>
                  <a:srgbClr val="2A78D6"/>
                </a:solidFill>
                <a:latin typeface="Arial"/>
              </a:rPr>
              <a:t>■  </a:t>
            </a:r>
            <a:r>
              <a:rPr sz="1200" b="1" i="0">
                <a:solidFill>
                  <a:srgbClr val="14213D"/>
                </a:solidFill>
                <a:latin typeface="Arial"/>
              </a:rPr>
              <a:t>Con 100 000 patrones: </a:t>
            </a:r>
            <a:r>
              <a:rPr sz="1200" b="0" i="0">
                <a:solidFill>
                  <a:srgbClr val="14213D"/>
                </a:solidFill>
                <a:latin typeface="Arial"/>
              </a:rPr>
              <a:t>β = 0.5 se hunde, β = 2 aún recupera &gt; 90 %.</a:t>
            </a:r>
          </a:p>
          <a:p>
            <a:pPr algn="l">
              <a:lnSpc>
                <a:spcPct val="110000"/>
              </a:lnSpc>
              <a:spcBef>
                <a:spcPts val="600"/>
              </a:spcBef>
            </a:pPr>
            <a:r>
              <a:rPr sz="800" b="0" i="0">
                <a:solidFill>
                  <a:srgbClr val="2A78D6"/>
                </a:solidFill>
                <a:latin typeface="Arial"/>
              </a:rPr>
              <a:t>■  </a:t>
            </a:r>
            <a:r>
              <a:rPr sz="1200" b="1" i="0">
                <a:solidFill>
                  <a:srgbClr val="2A78D6"/>
                </a:solidFill>
                <a:latin typeface="Arial"/>
              </a:rPr>
              <a:t>β debe crecer con log P</a:t>
            </a:r>
            <a:r>
              <a:rPr sz="1200" b="0" i="0">
                <a:solidFill>
                  <a:srgbClr val="14213D"/>
                </a:solidFill>
                <a:latin typeface="Arial"/>
              </a:rPr>
              <a:t>, como dice el teorema.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β decide qué recuerda la red</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3_puntos_fijos_beta.png"/>
          <p:cNvPicPr>
            <a:picLocks noChangeAspect="1"/>
          </p:cNvPicPr>
          <p:nvPr/>
        </p:nvPicPr>
        <p:blipFill>
          <a:blip r:embed="rId2"/>
          <a:stretch>
            <a:fillRect/>
          </a:stretch>
        </p:blipFill>
        <p:spPr>
          <a:xfrm>
            <a:off x="1234440" y="1024128"/>
            <a:ext cx="6786906" cy="1901952"/>
          </a:xfrm>
          <a:prstGeom prst="rect">
            <a:avLst/>
          </a:prstGeom>
        </p:spPr>
      </p:pic>
      <p:sp>
        <p:nvSpPr>
          <p:cNvPr id="5" name="Rectangle 4"/>
          <p:cNvSpPr/>
          <p:nvPr/>
        </p:nvSpPr>
        <p:spPr>
          <a:xfrm>
            <a:off x="457200" y="3063240"/>
            <a:ext cx="109728" cy="77724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017520"/>
            <a:ext cx="2468880" cy="868680"/>
          </a:xfrm>
          <a:prstGeom prst="rect">
            <a:avLst/>
          </a:prstGeom>
          <a:noFill/>
        </p:spPr>
        <p:txBody>
          <a:bodyPr wrap="square" anchor="t" lIns="36576" rIns="36576" tIns="18288" bIns="18288">
            <a:spAutoFit/>
          </a:bodyPr>
          <a:lstStyle/>
          <a:p>
            <a:pPr algn="l">
              <a:lnSpc>
                <a:spcPct val="110000"/>
              </a:lnSpc>
            </a:pPr>
            <a:r>
              <a:rPr sz="1300" b="1" i="0">
                <a:solidFill>
                  <a:srgbClr val="5B6472"/>
                </a:solidFill>
                <a:latin typeface="Arial"/>
              </a:rPr>
              <a:t>Global (β pequeño)</a:t>
            </a:r>
          </a:p>
          <a:p>
            <a:pPr algn="l">
              <a:lnSpc>
                <a:spcPct val="110000"/>
              </a:lnSpc>
            </a:pPr>
            <a:r>
              <a:rPr sz="1200" b="0" i="0">
                <a:solidFill>
                  <a:srgbClr val="14213D"/>
                </a:solidFill>
                <a:latin typeface="Arial"/>
              </a:rPr>
              <a:t>Promedia todos los patrones: no recuerda nada concreto.</a:t>
            </a:r>
          </a:p>
        </p:txBody>
      </p:sp>
      <p:sp>
        <p:nvSpPr>
          <p:cNvPr id="7" name="Rectangle 6"/>
          <p:cNvSpPr/>
          <p:nvPr/>
        </p:nvSpPr>
        <p:spPr>
          <a:xfrm>
            <a:off x="3246120" y="3063240"/>
            <a:ext cx="109728" cy="7772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3017520"/>
            <a:ext cx="2468880" cy="868680"/>
          </a:xfrm>
          <a:prstGeom prst="rect">
            <a:avLst/>
          </a:prstGeom>
          <a:noFill/>
        </p:spPr>
        <p:txBody>
          <a:bodyPr wrap="square" anchor="t" lIns="36576" rIns="36576" tIns="18288" bIns="18288">
            <a:spAutoFit/>
          </a:bodyPr>
          <a:lstStyle/>
          <a:p>
            <a:pPr algn="l">
              <a:lnSpc>
                <a:spcPct val="110000"/>
              </a:lnSpc>
            </a:pPr>
            <a:r>
              <a:rPr sz="1300" b="1" i="0">
                <a:solidFill>
                  <a:srgbClr val="EB6834"/>
                </a:solidFill>
                <a:latin typeface="Arial"/>
              </a:rPr>
              <a:t>Metaestable (β medio)</a:t>
            </a:r>
          </a:p>
          <a:p>
            <a:pPr algn="l">
              <a:lnSpc>
                <a:spcPct val="110000"/>
              </a:lnSpc>
            </a:pPr>
            <a:r>
              <a:rPr sz="1200" b="0" i="0">
                <a:solidFill>
                  <a:srgbClr val="14213D"/>
                </a:solidFill>
                <a:latin typeface="Arial"/>
              </a:rPr>
              <a:t>Promedia un grupo parecido: aquí B y R.</a:t>
            </a:r>
          </a:p>
        </p:txBody>
      </p:sp>
      <p:sp>
        <p:nvSpPr>
          <p:cNvPr id="9" name="Rectangle 8"/>
          <p:cNvSpPr/>
          <p:nvPr/>
        </p:nvSpPr>
        <p:spPr>
          <a:xfrm>
            <a:off x="6035040" y="3063240"/>
            <a:ext cx="109728" cy="7772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017520"/>
            <a:ext cx="2468880" cy="868680"/>
          </a:xfrm>
          <a:prstGeom prst="rect">
            <a:avLst/>
          </a:prstGeom>
          <a:noFill/>
        </p:spPr>
        <p:txBody>
          <a:bodyPr wrap="square" anchor="t" lIns="36576" rIns="36576" tIns="18288" bIns="18288">
            <a:spAutoFit/>
          </a:bodyPr>
          <a:lstStyle/>
          <a:p>
            <a:pPr algn="l">
              <a:lnSpc>
                <a:spcPct val="110000"/>
              </a:lnSpc>
            </a:pPr>
            <a:r>
              <a:rPr sz="1300" b="1" i="0">
                <a:solidFill>
                  <a:srgbClr val="2A78D6"/>
                </a:solidFill>
                <a:latin typeface="Arial"/>
              </a:rPr>
              <a:t>Único (β grande)</a:t>
            </a:r>
          </a:p>
          <a:p>
            <a:pPr algn="l">
              <a:lnSpc>
                <a:spcPct val="110000"/>
              </a:lnSpc>
            </a:pPr>
            <a:r>
              <a:rPr sz="1200" b="0" i="0">
                <a:solidFill>
                  <a:srgbClr val="14213D"/>
                </a:solidFill>
                <a:latin typeface="Arial"/>
              </a:rPr>
              <a:t>Todo el peso en un patrón: memoria asociativa.</a:t>
            </a:r>
          </a:p>
        </p:txBody>
      </p:sp>
      <p:sp>
        <p:nvSpPr>
          <p:cNvPr id="11" name="TextBox 10"/>
          <p:cNvSpPr txBox="1"/>
          <p:nvPr/>
        </p:nvSpPr>
        <p:spPr>
          <a:xfrm>
            <a:off x="457200" y="4023360"/>
            <a:ext cx="8229600" cy="502920"/>
          </a:xfrm>
          <a:prstGeom prst="rect">
            <a:avLst/>
          </a:prstGeom>
          <a:noFill/>
        </p:spPr>
        <p:txBody>
          <a:bodyPr wrap="square" anchor="t" lIns="36576" rIns="36576" tIns="18288" bIns="18288">
            <a:spAutoFit/>
          </a:bodyPr>
          <a:lstStyle/>
          <a:p>
            <a:pPr algn="l">
              <a:lnSpc>
                <a:spcPct val="110000"/>
              </a:lnSpc>
            </a:pPr>
            <a:r>
              <a:rPr sz="1200" b="1" i="0">
                <a:solidFill>
                  <a:srgbClr val="5B6472"/>
                </a:solidFill>
                <a:latin typeface="Arial"/>
              </a:rPr>
              <a:t>En BERT: </a:t>
            </a:r>
            <a:r>
              <a:rPr sz="1200" b="0" i="0">
                <a:solidFill>
                  <a:srgbClr val="5B6472"/>
                </a:solidFill>
                <a:latin typeface="Arial"/>
              </a:rPr>
              <a:t>las cabezas de las primeras capas tienden a promediar globalmente; las de capas superiores, a estados metaestables.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Del modelo a capas para redes profundas</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1828800" cy="43891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828800" cy="438912"/>
          </a:xfrm>
          <a:prstGeom prst="rect">
            <a:avLst/>
          </a:prstGeom>
          <a:noFill/>
        </p:spPr>
        <p:txBody>
          <a:bodyPr wrap="square" anchor="ctr" lIns="36576" rIns="36576" tIns="18288" bIns="18288">
            <a:spAutoFit/>
          </a:bodyPr>
          <a:lstStyle/>
          <a:p>
            <a:pPr algn="ctr">
              <a:lnSpc>
                <a:spcPct val="110000"/>
              </a:lnSpc>
            </a:pPr>
            <a:r>
              <a:rPr sz="1300" b="1" i="0">
                <a:solidFill>
                  <a:srgbClr val="FFFFFF"/>
                </a:solidFill>
                <a:latin typeface="Courier New"/>
              </a:rPr>
              <a:t>Hopfield</a:t>
            </a:r>
          </a:p>
        </p:txBody>
      </p:sp>
      <p:sp>
        <p:nvSpPr>
          <p:cNvPr id="6" name="TextBox 5"/>
          <p:cNvSpPr txBox="1"/>
          <p:nvPr/>
        </p:nvSpPr>
        <p:spPr>
          <a:xfrm>
            <a:off x="2377440" y="1188720"/>
            <a:ext cx="2194560" cy="438912"/>
          </a:xfrm>
          <a:prstGeom prst="rect">
            <a:avLst/>
          </a:prstGeom>
          <a:noFill/>
        </p:spPr>
        <p:txBody>
          <a:bodyPr wrap="square" anchor="ctr" lIns="36576" rIns="36576" tIns="18288" bIns="18288">
            <a:spAutoFit/>
          </a:bodyPr>
          <a:lstStyle/>
          <a:p>
            <a:pPr algn="l">
              <a:lnSpc>
                <a:spcPct val="100000"/>
              </a:lnSpc>
            </a:pPr>
            <a:r>
              <a:rPr sz="1100" b="0" i="0">
                <a:solidFill>
                  <a:srgbClr val="14213D"/>
                </a:solidFill>
                <a:latin typeface="Arial"/>
              </a:rPr>
              <a:t>asocia dos conjuntos: generaliza la atención</a:t>
            </a:r>
          </a:p>
        </p:txBody>
      </p:sp>
      <p:sp>
        <p:nvSpPr>
          <p:cNvPr id="7" name="Rectangle 6"/>
          <p:cNvSpPr/>
          <p:nvPr/>
        </p:nvSpPr>
        <p:spPr>
          <a:xfrm>
            <a:off x="457200" y="1755648"/>
            <a:ext cx="1828800" cy="43891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55648"/>
            <a:ext cx="1828800" cy="438912"/>
          </a:xfrm>
          <a:prstGeom prst="rect">
            <a:avLst/>
          </a:prstGeom>
          <a:noFill/>
        </p:spPr>
        <p:txBody>
          <a:bodyPr wrap="square" anchor="ctr" lIns="36576" rIns="36576" tIns="18288" bIns="18288">
            <a:spAutoFit/>
          </a:bodyPr>
          <a:lstStyle/>
          <a:p>
            <a:pPr algn="ctr">
              <a:lnSpc>
                <a:spcPct val="110000"/>
              </a:lnSpc>
            </a:pPr>
            <a:r>
              <a:rPr sz="1300" b="1" i="0">
                <a:solidFill>
                  <a:srgbClr val="FFFFFF"/>
                </a:solidFill>
                <a:latin typeface="Courier New"/>
              </a:rPr>
              <a:t>HopfieldPooling</a:t>
            </a:r>
          </a:p>
        </p:txBody>
      </p:sp>
      <p:sp>
        <p:nvSpPr>
          <p:cNvPr id="9" name="TextBox 8"/>
          <p:cNvSpPr txBox="1"/>
          <p:nvPr/>
        </p:nvSpPr>
        <p:spPr>
          <a:xfrm>
            <a:off x="2377440" y="1755648"/>
            <a:ext cx="2194560" cy="438912"/>
          </a:xfrm>
          <a:prstGeom prst="rect">
            <a:avLst/>
          </a:prstGeom>
          <a:noFill/>
        </p:spPr>
        <p:txBody>
          <a:bodyPr wrap="square" anchor="ctr" lIns="36576" rIns="36576" tIns="18288" bIns="18288">
            <a:spAutoFit/>
          </a:bodyPr>
          <a:lstStyle/>
          <a:p>
            <a:pPr algn="l">
              <a:lnSpc>
                <a:spcPct val="100000"/>
              </a:lnSpc>
            </a:pPr>
            <a:r>
              <a:rPr sz="1100" b="0" i="0">
                <a:solidFill>
                  <a:srgbClr val="14213D"/>
                </a:solidFill>
                <a:latin typeface="Arial"/>
              </a:rPr>
              <a:t>una consulta aprendida resume un conjunto</a:t>
            </a:r>
          </a:p>
        </p:txBody>
      </p:sp>
      <p:sp>
        <p:nvSpPr>
          <p:cNvPr id="10" name="Rectangle 9"/>
          <p:cNvSpPr/>
          <p:nvPr/>
        </p:nvSpPr>
        <p:spPr>
          <a:xfrm>
            <a:off x="457200" y="2322576"/>
            <a:ext cx="1828800" cy="43891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22576"/>
            <a:ext cx="1828800" cy="438912"/>
          </a:xfrm>
          <a:prstGeom prst="rect">
            <a:avLst/>
          </a:prstGeom>
          <a:noFill/>
        </p:spPr>
        <p:txBody>
          <a:bodyPr wrap="square" anchor="ctr" lIns="36576" rIns="36576" tIns="18288" bIns="18288">
            <a:spAutoFit/>
          </a:bodyPr>
          <a:lstStyle/>
          <a:p>
            <a:pPr algn="ctr">
              <a:lnSpc>
                <a:spcPct val="110000"/>
              </a:lnSpc>
            </a:pPr>
            <a:r>
              <a:rPr sz="1300" b="1" i="0">
                <a:solidFill>
                  <a:srgbClr val="FFFFFF"/>
                </a:solidFill>
                <a:latin typeface="Courier New"/>
              </a:rPr>
              <a:t>HopfieldLayer</a:t>
            </a:r>
          </a:p>
        </p:txBody>
      </p:sp>
      <p:sp>
        <p:nvSpPr>
          <p:cNvPr id="12" name="TextBox 11"/>
          <p:cNvSpPr txBox="1"/>
          <p:nvPr/>
        </p:nvSpPr>
        <p:spPr>
          <a:xfrm>
            <a:off x="2377440" y="2322576"/>
            <a:ext cx="2194560" cy="438912"/>
          </a:xfrm>
          <a:prstGeom prst="rect">
            <a:avLst/>
          </a:prstGeom>
          <a:noFill/>
        </p:spPr>
        <p:txBody>
          <a:bodyPr wrap="square" anchor="ctr" lIns="36576" rIns="36576" tIns="18288" bIns="18288">
            <a:spAutoFit/>
          </a:bodyPr>
          <a:lstStyle/>
          <a:p>
            <a:pPr algn="l">
              <a:lnSpc>
                <a:spcPct val="100000"/>
              </a:lnSpc>
            </a:pPr>
            <a:r>
              <a:rPr sz="1100" b="0" i="0">
                <a:solidFill>
                  <a:srgbClr val="14213D"/>
                </a:solidFill>
                <a:latin typeface="Arial"/>
              </a:rPr>
              <a:t>patrones guardados aprendidos: memoria de prototipos</a:t>
            </a:r>
          </a:p>
        </p:txBody>
      </p:sp>
      <p:sp>
        <p:nvSpPr>
          <p:cNvPr id="13" name="Rectangle 12"/>
          <p:cNvSpPr/>
          <p:nvPr/>
        </p:nvSpPr>
        <p:spPr>
          <a:xfrm>
            <a:off x="4800600" y="1188720"/>
            <a:ext cx="3886200" cy="2971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1261872"/>
            <a:ext cx="3657600" cy="365760"/>
          </a:xfrm>
          <a:prstGeom prst="rect">
            <a:avLst/>
          </a:prstGeom>
          <a:noFill/>
        </p:spPr>
        <p:txBody>
          <a:bodyPr wrap="square" anchor="t" lIns="36576" rIns="36576" tIns="18288" bIns="18288">
            <a:spAutoFit/>
          </a:bodyPr>
          <a:lstStyle/>
          <a:p>
            <a:pPr algn="l">
              <a:lnSpc>
                <a:spcPct val="110000"/>
              </a:lnSpc>
            </a:pPr>
            <a:r>
              <a:rPr sz="1400" b="1" i="0">
                <a:solidFill>
                  <a:srgbClr val="14213D"/>
                </a:solidFill>
                <a:latin typeface="Arial"/>
              </a:rPr>
              <a:t>Resultados del artículo</a:t>
            </a:r>
          </a:p>
        </p:txBody>
      </p:sp>
      <p:sp>
        <p:nvSpPr>
          <p:cNvPr id="15" name="TextBox 14"/>
          <p:cNvSpPr txBox="1"/>
          <p:nvPr/>
        </p:nvSpPr>
        <p:spPr>
          <a:xfrm>
            <a:off x="4937760" y="1645920"/>
            <a:ext cx="3657600" cy="2468880"/>
          </a:xfrm>
          <a:prstGeom prst="rect">
            <a:avLst/>
          </a:prstGeom>
          <a:noFill/>
        </p:spPr>
        <p:txBody>
          <a:bodyPr wrap="square" anchor="t" lIns="36576" rIns="36576" tIns="18288" bIns="18288">
            <a:spAutoFit/>
          </a:bodyPr>
          <a:lstStyle/>
          <a:p>
            <a:pPr algn="l">
              <a:lnSpc>
                <a:spcPct val="110000"/>
              </a:lnSpc>
            </a:pPr>
            <a:r>
              <a:rPr sz="800" b="0" i="0">
                <a:solidFill>
                  <a:srgbClr val="2A78D6"/>
                </a:solidFill>
                <a:latin typeface="Arial"/>
              </a:rPr>
              <a:t>■  </a:t>
            </a:r>
            <a:r>
              <a:rPr sz="1200" b="1" i="0">
                <a:solidFill>
                  <a:srgbClr val="14213D"/>
                </a:solidFill>
                <a:latin typeface="Arial"/>
              </a:rPr>
              <a:t>Instancias múltiples: </a:t>
            </a:r>
            <a:r>
              <a:rPr sz="1200" b="0" i="0">
                <a:solidFill>
                  <a:srgbClr val="14213D"/>
                </a:solidFill>
                <a:latin typeface="Arial"/>
              </a:rPr>
              <a:t>mejor resultado en 3 de 4 problemas y en repertorios inmunes (cientos de miles de secuencias por paciente).</a:t>
            </a:r>
          </a:p>
          <a:p>
            <a:pPr algn="l">
              <a:lnSpc>
                <a:spcPct val="110000"/>
              </a:lnSpc>
              <a:spcBef>
                <a:spcPts val="600"/>
              </a:spcBef>
            </a:pPr>
            <a:r>
              <a:rPr sz="800" b="0" i="0">
                <a:solidFill>
                  <a:srgbClr val="2A78D6"/>
                </a:solidFill>
                <a:latin typeface="Arial"/>
              </a:rPr>
              <a:t>■  </a:t>
            </a:r>
            <a:r>
              <a:rPr sz="1200" b="1" i="0">
                <a:solidFill>
                  <a:srgbClr val="14213D"/>
                </a:solidFill>
                <a:latin typeface="Arial"/>
              </a:rPr>
              <a:t>UCI, conjuntos pequeños: </a:t>
            </a:r>
            <a:r>
              <a:rPr sz="1200" b="0" i="0">
                <a:solidFill>
                  <a:srgbClr val="14213D"/>
                </a:solidFill>
                <a:latin typeface="Arial"/>
              </a:rPr>
              <a:t>mejor que distintos métodos de aprendizaje automático.</a:t>
            </a:r>
          </a:p>
          <a:p>
            <a:pPr algn="l">
              <a:lnSpc>
                <a:spcPct val="110000"/>
              </a:lnSpc>
              <a:spcBef>
                <a:spcPts val="600"/>
              </a:spcBef>
            </a:pPr>
            <a:r>
              <a:rPr sz="800" b="0" i="0">
                <a:solidFill>
                  <a:srgbClr val="2A78D6"/>
                </a:solidFill>
                <a:latin typeface="Arial"/>
              </a:rPr>
              <a:t>■  </a:t>
            </a:r>
            <a:r>
              <a:rPr sz="1200" b="1" i="0">
                <a:solidFill>
                  <a:srgbClr val="14213D"/>
                </a:solidFill>
                <a:latin typeface="Arial"/>
              </a:rPr>
              <a:t>Diseño de fármacos: </a:t>
            </a:r>
            <a:r>
              <a:rPr sz="1200" b="0" i="0">
                <a:solidFill>
                  <a:srgbClr val="14213D"/>
                </a:solidFill>
                <a:latin typeface="Arial"/>
              </a:rPr>
              <a:t>estado del arte en dos conjuntos.</a:t>
            </a:r>
          </a:p>
        </p:txBody>
      </p:sp>
      <p:sp>
        <p:nvSpPr>
          <p:cNvPr id="16" name="TextBox 15"/>
          <p:cNvSpPr txBox="1"/>
          <p:nvPr/>
        </p:nvSpPr>
        <p:spPr>
          <a:xfrm>
            <a:off x="457200" y="3063240"/>
            <a:ext cx="4114800" cy="1097280"/>
          </a:xfrm>
          <a:prstGeom prst="rect">
            <a:avLst/>
          </a:prstGeom>
          <a:noFill/>
        </p:spPr>
        <p:txBody>
          <a:bodyPr wrap="square" anchor="t" lIns="36576" rIns="36576" tIns="18288" bIns="18288">
            <a:spAutoFit/>
          </a:bodyPr>
          <a:lstStyle/>
          <a:p>
            <a:pPr algn="l">
              <a:lnSpc>
                <a:spcPct val="110000"/>
              </a:lnSpc>
            </a:pPr>
            <a:r>
              <a:rPr sz="1100" b="0" i="0">
                <a:solidFill>
                  <a:srgbClr val="5B6472"/>
                </a:solidFill>
                <a:latin typeface="Arial"/>
              </a:rPr>
              <a:t>Código abierto en PyTorch: github.com/ml-jku/hopfield-layers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01752"/>
            <a:ext cx="8229600" cy="566928"/>
          </a:xfrm>
          <a:prstGeom prst="rect">
            <a:avLst/>
          </a:prstGeom>
          <a:noFill/>
        </p:spPr>
        <p:txBody>
          <a:bodyPr wrap="square" anchor="t" lIns="36576" rIns="36576" tIns="18288" bIns="18288">
            <a:spAutoFit/>
          </a:bodyPr>
          <a:lstStyle/>
          <a:p>
            <a:pPr algn="l">
              <a:lnSpc>
                <a:spcPct val="110000"/>
              </a:lnSpc>
            </a:pPr>
            <a:r>
              <a:rPr sz="2400" b="1" i="0">
                <a:solidFill>
                  <a:srgbClr val="14213D"/>
                </a:solidFill>
                <a:latin typeface="Arial"/>
              </a:rPr>
              <a:t>Ventajas y limitaciones</a:t>
            </a:r>
          </a:p>
        </p:txBody>
      </p:sp>
      <p:sp>
        <p:nvSpPr>
          <p:cNvPr id="3" name="Rectangle 2"/>
          <p:cNvSpPr/>
          <p:nvPr/>
        </p:nvSpPr>
        <p:spPr>
          <a:xfrm>
            <a:off x="457200" y="868680"/>
            <a:ext cx="82296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4023360" cy="4572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88720"/>
            <a:ext cx="3749039" cy="457200"/>
          </a:xfrm>
          <a:prstGeom prst="rect">
            <a:avLst/>
          </a:prstGeom>
          <a:noFill/>
        </p:spPr>
        <p:txBody>
          <a:bodyPr wrap="square" anchor="ctr" lIns="36576" rIns="36576" tIns="18288" bIns="18288">
            <a:spAutoFit/>
          </a:bodyPr>
          <a:lstStyle/>
          <a:p>
            <a:pPr algn="l">
              <a:lnSpc>
                <a:spcPct val="110000"/>
              </a:lnSpc>
            </a:pPr>
            <a:r>
              <a:rPr sz="1600" b="1" i="0">
                <a:solidFill>
                  <a:srgbClr val="FFFFFF"/>
                </a:solidFill>
                <a:latin typeface="Arial"/>
              </a:rPr>
              <a:t>Ventajas</a:t>
            </a:r>
          </a:p>
        </p:txBody>
      </p:sp>
      <p:sp>
        <p:nvSpPr>
          <p:cNvPr id="6" name="TextBox 5"/>
          <p:cNvSpPr txBox="1"/>
          <p:nvPr/>
        </p:nvSpPr>
        <p:spPr>
          <a:xfrm>
            <a:off x="548640" y="1783080"/>
            <a:ext cx="3840480" cy="2651760"/>
          </a:xfrm>
          <a:prstGeom prst="rect">
            <a:avLst/>
          </a:prstGeom>
          <a:noFill/>
        </p:spPr>
        <p:txBody>
          <a:bodyPr wrap="square" anchor="t" lIns="36576" rIns="36576" tIns="18288" bIns="18288">
            <a:spAutoFit/>
          </a:bodyPr>
          <a:lstStyle/>
          <a:p>
            <a:pPr algn="l">
              <a:lnSpc>
                <a:spcPct val="110000"/>
              </a:lnSpc>
            </a:pPr>
            <a:r>
              <a:rPr sz="900" b="0" i="0">
                <a:solidFill>
                  <a:srgbClr val="1BAF7A"/>
                </a:solidFill>
                <a:latin typeface="Arial"/>
              </a:rPr>
              <a:t>■  </a:t>
            </a:r>
            <a:r>
              <a:rPr sz="1300" b="0" i="0">
                <a:solidFill>
                  <a:srgbClr val="14213D"/>
                </a:solidFill>
                <a:latin typeface="Arial"/>
              </a:rPr>
              <a:t>Capacidad exponencial y recuperación en un paso.</a:t>
            </a:r>
          </a:p>
          <a:p>
            <a:pPr algn="l">
              <a:lnSpc>
                <a:spcPct val="110000"/>
              </a:lnSpc>
              <a:spcBef>
                <a:spcPts val="800"/>
              </a:spcBef>
            </a:pPr>
            <a:r>
              <a:rPr sz="900" b="0" i="0">
                <a:solidFill>
                  <a:srgbClr val="1BAF7A"/>
                </a:solidFill>
                <a:latin typeface="Arial"/>
              </a:rPr>
              <a:t>■  </a:t>
            </a:r>
            <a:r>
              <a:rPr sz="1300" b="0" i="0">
                <a:solidFill>
                  <a:srgbClr val="14213D"/>
                </a:solidFill>
                <a:latin typeface="Arial"/>
              </a:rPr>
              <a:t>Continua y derivable: se entrena dentro de una red profunda.</a:t>
            </a:r>
          </a:p>
          <a:p>
            <a:pPr algn="l">
              <a:lnSpc>
                <a:spcPct val="110000"/>
              </a:lnSpc>
              <a:spcBef>
                <a:spcPts val="800"/>
              </a:spcBef>
            </a:pPr>
            <a:r>
              <a:rPr sz="900" b="0" i="0">
                <a:solidFill>
                  <a:srgbClr val="1BAF7A"/>
                </a:solidFill>
                <a:latin typeface="Arial"/>
              </a:rPr>
              <a:t>■  </a:t>
            </a:r>
            <a:r>
              <a:rPr sz="1300" b="0" i="0">
                <a:solidFill>
                  <a:srgbClr val="14213D"/>
                </a:solidFill>
                <a:latin typeface="Arial"/>
              </a:rPr>
              <a:t>Explica qué hace cada cabeza de atención.</a:t>
            </a:r>
          </a:p>
          <a:p>
            <a:pPr algn="l">
              <a:lnSpc>
                <a:spcPct val="110000"/>
              </a:lnSpc>
              <a:spcBef>
                <a:spcPts val="800"/>
              </a:spcBef>
            </a:pPr>
            <a:r>
              <a:rPr sz="900" b="0" i="0">
                <a:solidFill>
                  <a:srgbClr val="1BAF7A"/>
                </a:solidFill>
                <a:latin typeface="Arial"/>
              </a:rPr>
              <a:t>■  </a:t>
            </a:r>
            <a:r>
              <a:rPr sz="1300" b="0" i="0">
                <a:solidFill>
                  <a:srgbClr val="14213D"/>
                </a:solidFill>
                <a:latin typeface="Arial"/>
              </a:rPr>
              <a:t>Tres líneas de numpy: similitud, softmax, promedio.</a:t>
            </a:r>
          </a:p>
        </p:txBody>
      </p:sp>
      <p:sp>
        <p:nvSpPr>
          <p:cNvPr id="7" name="Rectangle 6"/>
          <p:cNvSpPr/>
          <p:nvPr/>
        </p:nvSpPr>
        <p:spPr>
          <a:xfrm>
            <a:off x="4663440" y="1188720"/>
            <a:ext cx="4023360" cy="4572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188720"/>
            <a:ext cx="3749039" cy="457200"/>
          </a:xfrm>
          <a:prstGeom prst="rect">
            <a:avLst/>
          </a:prstGeom>
          <a:noFill/>
        </p:spPr>
        <p:txBody>
          <a:bodyPr wrap="square" anchor="ctr" lIns="36576" rIns="36576" tIns="18288" bIns="18288">
            <a:spAutoFit/>
          </a:bodyPr>
          <a:lstStyle/>
          <a:p>
            <a:pPr algn="l">
              <a:lnSpc>
                <a:spcPct val="110000"/>
              </a:lnSpc>
            </a:pPr>
            <a:r>
              <a:rPr sz="1600" b="1" i="0">
                <a:solidFill>
                  <a:srgbClr val="FFFFFF"/>
                </a:solidFill>
                <a:latin typeface="Arial"/>
              </a:rPr>
              <a:t>Limitaciones</a:t>
            </a:r>
          </a:p>
        </p:txBody>
      </p:sp>
      <p:sp>
        <p:nvSpPr>
          <p:cNvPr id="9" name="TextBox 8"/>
          <p:cNvSpPr txBox="1"/>
          <p:nvPr/>
        </p:nvSpPr>
        <p:spPr>
          <a:xfrm>
            <a:off x="4754879" y="1783080"/>
            <a:ext cx="3840480" cy="2651760"/>
          </a:xfrm>
          <a:prstGeom prst="rect">
            <a:avLst/>
          </a:prstGeom>
          <a:noFill/>
        </p:spPr>
        <p:txBody>
          <a:bodyPr wrap="square" anchor="t" lIns="36576" rIns="36576" tIns="18288" bIns="18288">
            <a:spAutoFit/>
          </a:bodyPr>
          <a:lstStyle/>
          <a:p>
            <a:pPr algn="l">
              <a:lnSpc>
                <a:spcPct val="110000"/>
              </a:lnSpc>
            </a:pPr>
            <a:r>
              <a:rPr sz="900" b="0" i="0">
                <a:solidFill>
                  <a:srgbClr val="EB6834"/>
                </a:solidFill>
                <a:latin typeface="Arial"/>
              </a:rPr>
              <a:t>■  </a:t>
            </a:r>
            <a:r>
              <a:rPr sz="1300" b="0" i="0">
                <a:solidFill>
                  <a:srgbClr val="14213D"/>
                </a:solidFill>
                <a:latin typeface="Arial"/>
              </a:rPr>
              <a:t>Guarda todos los patrones: memoria y coste crecen con P.</a:t>
            </a:r>
          </a:p>
          <a:p>
            <a:pPr algn="l">
              <a:lnSpc>
                <a:spcPct val="110000"/>
              </a:lnSpc>
              <a:spcBef>
                <a:spcPts val="800"/>
              </a:spcBef>
            </a:pPr>
            <a:r>
              <a:rPr sz="900" b="0" i="0">
                <a:solidFill>
                  <a:srgbClr val="EB6834"/>
                </a:solidFill>
                <a:latin typeface="Arial"/>
              </a:rPr>
              <a:t>■  </a:t>
            </a:r>
            <a:r>
              <a:rPr sz="1300" b="0" i="0">
                <a:solidFill>
                  <a:srgbClr val="14213D"/>
                </a:solidFill>
                <a:latin typeface="Arial"/>
              </a:rPr>
              <a:t>β es crítico: demasiado pequeño da promedios, no recuerdos.</a:t>
            </a:r>
          </a:p>
          <a:p>
            <a:pPr algn="l">
              <a:lnSpc>
                <a:spcPct val="110000"/>
              </a:lnSpc>
              <a:spcBef>
                <a:spcPts val="800"/>
              </a:spcBef>
            </a:pPr>
            <a:r>
              <a:rPr sz="900" b="0" i="0">
                <a:solidFill>
                  <a:srgbClr val="EB6834"/>
                </a:solidFill>
                <a:latin typeface="Arial"/>
              </a:rPr>
              <a:t>■  </a:t>
            </a:r>
            <a:r>
              <a:rPr sz="1300" b="0" i="0">
                <a:solidFill>
                  <a:srgbClr val="14213D"/>
                </a:solidFill>
                <a:latin typeface="Arial"/>
              </a:rPr>
              <a:t>Similitud por producto escalar: en datos reales hay que aprender W_Q, W_K, W_V.</a:t>
            </a:r>
          </a:p>
          <a:p>
            <a:pPr algn="l">
              <a:lnSpc>
                <a:spcPct val="110000"/>
              </a:lnSpc>
              <a:spcBef>
                <a:spcPts val="800"/>
              </a:spcBef>
            </a:pPr>
            <a:r>
              <a:rPr sz="900" b="0" i="0">
                <a:solidFill>
                  <a:srgbClr val="EB6834"/>
                </a:solidFill>
                <a:latin typeface="Arial"/>
              </a:rPr>
              <a:t>■  </a:t>
            </a:r>
            <a:r>
              <a:rPr sz="1300" b="0" i="0">
                <a:solidFill>
                  <a:srgbClr val="14213D"/>
                </a:solidFill>
                <a:latin typeface="Arial"/>
              </a:rPr>
              <a:t>Garantías para patrones separados o aleatorios.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502920"/>
            <a:ext cx="8046720" cy="640080"/>
          </a:xfrm>
          <a:prstGeom prst="rect">
            <a:avLst/>
          </a:prstGeom>
          <a:noFill/>
        </p:spPr>
        <p:txBody>
          <a:bodyPr wrap="square" anchor="t" lIns="36576" rIns="36576" tIns="18288" bIns="18288">
            <a:spAutoFit/>
          </a:bodyPr>
          <a:lstStyle/>
          <a:p>
            <a:pPr algn="l">
              <a:lnSpc>
                <a:spcPct val="110000"/>
              </a:lnSpc>
            </a:pPr>
            <a:r>
              <a:rPr sz="2800" b="1" i="0">
                <a:solidFill>
                  <a:srgbClr val="FFFFFF"/>
                </a:solidFill>
                <a:latin typeface="Arial"/>
              </a:rPr>
              <a:t>Conclusiones</a:t>
            </a:r>
          </a:p>
        </p:txBody>
      </p:sp>
      <p:sp>
        <p:nvSpPr>
          <p:cNvPr id="3" name="Oval 2"/>
          <p:cNvSpPr/>
          <p:nvPr/>
        </p:nvSpPr>
        <p:spPr>
          <a:xfrm>
            <a:off x="548640" y="1371600"/>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384048" cy="384048"/>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1</a:t>
            </a:r>
          </a:p>
        </p:txBody>
      </p:sp>
      <p:sp>
        <p:nvSpPr>
          <p:cNvPr id="5" name="TextBox 4"/>
          <p:cNvSpPr txBox="1"/>
          <p:nvPr/>
        </p:nvSpPr>
        <p:spPr>
          <a:xfrm>
            <a:off x="1143000" y="1325880"/>
            <a:ext cx="7498079" cy="731520"/>
          </a:xfrm>
          <a:prstGeom prst="rect">
            <a:avLst/>
          </a:prstGeom>
          <a:noFill/>
        </p:spPr>
        <p:txBody>
          <a:bodyPr wrap="square" anchor="t" lIns="36576" rIns="36576" tIns="18288" bIns="18288">
            <a:spAutoFit/>
          </a:bodyPr>
          <a:lstStyle/>
          <a:p>
            <a:pPr algn="l">
              <a:lnSpc>
                <a:spcPct val="110000"/>
              </a:lnSpc>
            </a:pPr>
            <a:r>
              <a:rPr sz="1500" b="0" i="0">
                <a:solidFill>
                  <a:srgbClr val="FFFFFF"/>
                </a:solidFill>
                <a:latin typeface="Arial"/>
              </a:rPr>
              <a:t>Cambiar la energía cuadrática por un log-sum-exp da una memoria asociativa de capacidad exponencial que recupera en un paso.</a:t>
            </a:r>
          </a:p>
        </p:txBody>
      </p:sp>
      <p:sp>
        <p:nvSpPr>
          <p:cNvPr id="6" name="Oval 5"/>
          <p:cNvSpPr/>
          <p:nvPr/>
        </p:nvSpPr>
        <p:spPr>
          <a:xfrm>
            <a:off x="548640" y="2176272"/>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76272"/>
            <a:ext cx="384048" cy="384048"/>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2</a:t>
            </a:r>
          </a:p>
        </p:txBody>
      </p:sp>
      <p:sp>
        <p:nvSpPr>
          <p:cNvPr id="8" name="TextBox 7"/>
          <p:cNvSpPr txBox="1"/>
          <p:nvPr/>
        </p:nvSpPr>
        <p:spPr>
          <a:xfrm>
            <a:off x="1143000" y="2130552"/>
            <a:ext cx="7498079" cy="731520"/>
          </a:xfrm>
          <a:prstGeom prst="rect">
            <a:avLst/>
          </a:prstGeom>
          <a:noFill/>
        </p:spPr>
        <p:txBody>
          <a:bodyPr wrap="square" anchor="t" lIns="36576" rIns="36576" tIns="18288" bIns="18288">
            <a:spAutoFit/>
          </a:bodyPr>
          <a:lstStyle/>
          <a:p>
            <a:pPr algn="l">
              <a:lnSpc>
                <a:spcPct val="110000"/>
              </a:lnSpc>
            </a:pPr>
            <a:r>
              <a:rPr sz="1500" b="0" i="0">
                <a:solidFill>
                  <a:srgbClr val="FFFFFF"/>
                </a:solidFill>
                <a:latin typeface="Arial"/>
              </a:rPr>
              <a:t>Su regla de actualización es la atención de los Transformers: Hopfield 1982 y los modelos de lenguaje actuales están conectados.</a:t>
            </a:r>
          </a:p>
        </p:txBody>
      </p:sp>
      <p:sp>
        <p:nvSpPr>
          <p:cNvPr id="9" name="Oval 8"/>
          <p:cNvSpPr/>
          <p:nvPr/>
        </p:nvSpPr>
        <p:spPr>
          <a:xfrm>
            <a:off x="548640" y="2980944"/>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80944"/>
            <a:ext cx="384048" cy="384048"/>
          </a:xfrm>
          <a:prstGeom prst="rect">
            <a:avLst/>
          </a:prstGeom>
          <a:noFill/>
        </p:spPr>
        <p:txBody>
          <a:bodyPr wrap="square" anchor="ctr" lIns="36576" rIns="36576" tIns="18288" bIns="18288">
            <a:spAutoFit/>
          </a:bodyPr>
          <a:lstStyle/>
          <a:p>
            <a:pPr algn="ctr">
              <a:lnSpc>
                <a:spcPct val="110000"/>
              </a:lnSpc>
            </a:pPr>
            <a:r>
              <a:rPr sz="1500" b="1" i="0">
                <a:solidFill>
                  <a:srgbClr val="FFFFFF"/>
                </a:solidFill>
                <a:latin typeface="Arial"/>
              </a:rPr>
              <a:t>3</a:t>
            </a:r>
          </a:p>
        </p:txBody>
      </p:sp>
      <p:sp>
        <p:nvSpPr>
          <p:cNvPr id="11" name="TextBox 10"/>
          <p:cNvSpPr txBox="1"/>
          <p:nvPr/>
        </p:nvSpPr>
        <p:spPr>
          <a:xfrm>
            <a:off x="1143000" y="2935224"/>
            <a:ext cx="7498079" cy="731520"/>
          </a:xfrm>
          <a:prstGeom prst="rect">
            <a:avLst/>
          </a:prstGeom>
          <a:noFill/>
        </p:spPr>
        <p:txBody>
          <a:bodyPr wrap="square" anchor="t" lIns="36576" rIns="36576" tIns="18288" bIns="18288">
            <a:spAutoFit/>
          </a:bodyPr>
          <a:lstStyle/>
          <a:p>
            <a:pPr algn="l">
              <a:lnSpc>
                <a:spcPct val="110000"/>
              </a:lnSpc>
            </a:pPr>
            <a:r>
              <a:rPr sz="1500" b="0" i="0">
                <a:solidFill>
                  <a:srgbClr val="FFFFFF"/>
                </a:solidFill>
                <a:latin typeface="Arial"/>
              </a:rPr>
              <a:t>Con nuestras letras de 7×6 lo comprobamos: un paso, 26 letras guardadas, tres tipos de punto fijo y atención idéntica.</a:t>
            </a:r>
          </a:p>
        </p:txBody>
      </p:sp>
      <p:sp>
        <p:nvSpPr>
          <p:cNvPr id="12" name="TextBox 11"/>
          <p:cNvSpPr txBox="1"/>
          <p:nvPr/>
        </p:nvSpPr>
        <p:spPr>
          <a:xfrm>
            <a:off x="548640" y="4023360"/>
            <a:ext cx="8046720" cy="457200"/>
          </a:xfrm>
          <a:prstGeom prst="rect">
            <a:avLst/>
          </a:prstGeom>
          <a:noFill/>
        </p:spPr>
        <p:txBody>
          <a:bodyPr wrap="square" anchor="t" lIns="36576" rIns="36576" tIns="18288" bIns="18288">
            <a:spAutoFit/>
          </a:bodyPr>
          <a:lstStyle/>
          <a:p>
            <a:pPr algn="l">
              <a:lnSpc>
                <a:spcPct val="110000"/>
              </a:lnSpc>
            </a:pPr>
            <a:r>
              <a:rPr sz="2000" b="1" i="0">
                <a:solidFill>
                  <a:srgbClr val="C9D6F2"/>
                </a:solidFill>
                <a:latin typeface="Arial"/>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